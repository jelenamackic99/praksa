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76" r:id="rId2"/>
    <p:sldId id="493" r:id="rId3"/>
    <p:sldId id="498" r:id="rId4"/>
    <p:sldId id="496" r:id="rId5"/>
    <p:sldId id="515" r:id="rId6"/>
    <p:sldId id="499" r:id="rId7"/>
    <p:sldId id="502" r:id="rId8"/>
    <p:sldId id="507" r:id="rId9"/>
    <p:sldId id="509" r:id="rId10"/>
    <p:sldId id="508" r:id="rId11"/>
    <p:sldId id="510" r:id="rId12"/>
    <p:sldId id="512" r:id="rId13"/>
    <p:sldId id="513" r:id="rId14"/>
    <p:sldId id="511" r:id="rId15"/>
    <p:sldId id="503" r:id="rId16"/>
    <p:sldId id="514" r:id="rId17"/>
    <p:sldId id="516" r:id="rId18"/>
    <p:sldId id="517" r:id="rId19"/>
    <p:sldId id="518" r:id="rId20"/>
    <p:sldId id="519" r:id="rId21"/>
    <p:sldId id="520" r:id="rId22"/>
    <p:sldId id="521" r:id="rId23"/>
    <p:sldId id="522" r:id="rId24"/>
    <p:sldId id="528" r:id="rId25"/>
    <p:sldId id="526" r:id="rId26"/>
    <p:sldId id="529" r:id="rId27"/>
    <p:sldId id="530" r:id="rId28"/>
    <p:sldId id="523" r:id="rId29"/>
    <p:sldId id="527" r:id="rId30"/>
    <p:sldId id="531" r:id="rId31"/>
    <p:sldId id="492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0" userDrawn="1">
          <p15:clr>
            <a:srgbClr val="A4A3A4"/>
          </p15:clr>
        </p15:guide>
        <p15:guide id="2" orient="horz" pos="256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C5D5"/>
    <a:srgbClr val="44546A"/>
    <a:srgbClr val="CFC6D5"/>
    <a:srgbClr val="E7E8ED"/>
    <a:srgbClr val="878787"/>
    <a:srgbClr val="B8BDC8"/>
    <a:srgbClr val="CFD2DA"/>
    <a:srgbClr val="E8E6E6"/>
    <a:srgbClr val="A1ABBB"/>
    <a:srgbClr val="8C9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898" y="77"/>
      </p:cViewPr>
      <p:guideLst>
        <p:guide orient="horz" pos="1820"/>
        <p:guide orient="horz" pos="2568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644D3-94CA-4141-A966-DC606E93B6D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73CEC-A861-2D40-A606-73FB61E50C0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272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E10D402-2B55-F000-AABA-DD5EFB80C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2FD952-AA5A-A258-3D2D-5B7F86068505}"/>
              </a:ext>
            </a:extLst>
          </p:cNvPr>
          <p:cNvSpPr/>
          <p:nvPr userDrawn="1"/>
        </p:nvSpPr>
        <p:spPr>
          <a:xfrm>
            <a:off x="0" y="685799"/>
            <a:ext cx="45719" cy="790481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1A89739-5365-713D-C152-618B429E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A05E251A-43FB-707C-D054-89564518E9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312" y="2380768"/>
            <a:ext cx="4905375" cy="10937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2000" b="0" i="0" kern="1200" dirty="0" smtClean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>
              <a:buNone/>
              <a:defRPr lang="en-GB" sz="2000" kern="1200" dirty="0" smtClean="0">
                <a:solidFill>
                  <a:schemeClr val="bg1"/>
                </a:solidFill>
                <a:latin typeface="Montserrat "/>
                <a:ea typeface="+mn-ea"/>
                <a:cs typeface="+mn-cs"/>
              </a:defRPr>
            </a:lvl2pPr>
            <a:lvl3pPr marL="914400" indent="0">
              <a:buNone/>
              <a:defRPr lang="en-GB" sz="2000" kern="1200" dirty="0" smtClean="0">
                <a:solidFill>
                  <a:schemeClr val="tx1"/>
                </a:solidFill>
                <a:latin typeface="Montserrat "/>
                <a:ea typeface="+mn-ea"/>
                <a:cs typeface="+mn-cs"/>
              </a:defRPr>
            </a:lvl3pPr>
            <a:lvl4pPr marL="1371600" indent="0">
              <a:buNone/>
              <a:defRPr lang="en-GB" sz="2000" kern="1200" dirty="0" smtClean="0">
                <a:solidFill>
                  <a:schemeClr val="tx1"/>
                </a:solidFill>
                <a:latin typeface="Montserrat "/>
                <a:ea typeface="+mn-ea"/>
                <a:cs typeface="+mn-cs"/>
              </a:defRPr>
            </a:lvl4pPr>
            <a:lvl5pPr marL="1828800" indent="0">
              <a:buNone/>
              <a:defRPr lang="en-AU" sz="2000" kern="1200" dirty="0">
                <a:solidFill>
                  <a:schemeClr val="tx1"/>
                </a:solidFill>
                <a:latin typeface="Montserrat 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edit Master text</a:t>
            </a:r>
            <a:endParaRPr lang="en-AU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9F6BB53-965E-F4CB-810B-59A0CBF76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026" y="1130400"/>
            <a:ext cx="8334375" cy="3952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AU" sz="1400" kern="1200" dirty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156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47D25E-1765-4BC2-802A-3E2506C1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76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A7AD8E95-45BA-4C04-8CC3-EB96453974FC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E2784-34B4-470E-8AA7-C12DE09B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AF132E-F26E-4982-B862-B53885C6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2601" y="6356350"/>
            <a:ext cx="2684437" cy="365125"/>
          </a:xfrm>
          <a:prstGeom prst="rect">
            <a:avLst/>
          </a:prstGeom>
        </p:spPr>
        <p:txBody>
          <a:bodyPr/>
          <a:lstStyle/>
          <a:p>
            <a:fld id="{BEAC69F9-5B76-4F4F-BCB6-0EE1676C1350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1A89739-5365-713D-C152-618B429E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D4C60-D227-B87A-8F5F-885580AD760C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E10D402-2B55-F000-AABA-DD5EFB80C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829374"/>
            <a:ext cx="12192000" cy="40514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34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1A89739-5365-713D-C152-618B429E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D4C60-D227-B87A-8F5F-885580AD760C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E10D402-2B55-F000-AABA-DD5EFB80C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957070"/>
            <a:ext cx="12192000" cy="35153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905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8E10D402-2B55-F000-AABA-DD5EFB80CB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829374"/>
            <a:ext cx="12192000" cy="40514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BE1B65CA-2847-BB8F-DE8A-14014FC7A1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28812" y="6089859"/>
            <a:ext cx="8334375" cy="39528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200" b="0" i="0" kern="1200" dirty="0" smtClean="0">
                <a:solidFill>
                  <a:srgbClr val="878787"/>
                </a:solidFill>
                <a:latin typeface="Montserrat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GB" sz="1400" kern="1200" dirty="0" smtClean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FontTx/>
              <a:buNone/>
              <a:defRPr lang="en-AU" sz="1400" kern="1200" dirty="0">
                <a:solidFill>
                  <a:srgbClr val="7B6C93"/>
                </a:solidFill>
                <a:latin typeface="Montserrat Medium" panose="00000600000000000000" pitchFamily="50" charset="-18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AU" dirty="0"/>
          </a:p>
        </p:txBody>
      </p:sp>
      <p:pic>
        <p:nvPicPr>
          <p:cNvPr id="4" name="Picture 3" descr="A logo with a yellow and purple design&#10;&#10;Description automatically generated">
            <a:extLst>
              <a:ext uri="{FF2B5EF4-FFF2-40B4-BE49-F238E27FC236}">
                <a16:creationId xmlns:a16="http://schemas.microsoft.com/office/drawing/2014/main" id="{B2409685-0B18-589F-F144-E7B8CF218A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047" y="433740"/>
            <a:ext cx="1341905" cy="108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98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ne_column_on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600" y="1502233"/>
            <a:ext cx="3835402" cy="428765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4BAD798-986F-F6AE-D4F1-A5C00EABE3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84863" y="1504706"/>
            <a:ext cx="6307137" cy="49492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AU"/>
          </a:p>
        </p:txBody>
      </p:sp>
      <p:cxnSp>
        <p:nvCxnSpPr>
          <p:cNvPr id="23" name="Google Shape;803;p31">
            <a:extLst>
              <a:ext uri="{FF2B5EF4-FFF2-40B4-BE49-F238E27FC236}">
                <a16:creationId xmlns:a16="http://schemas.microsoft.com/office/drawing/2014/main" id="{77A6DF7E-1311-C47D-8E98-CC369B58A79D}"/>
              </a:ext>
            </a:extLst>
          </p:cNvPr>
          <p:cNvCxnSpPr>
            <a:cxnSpLocks/>
          </p:cNvCxnSpPr>
          <p:nvPr userDrawn="1"/>
        </p:nvCxnSpPr>
        <p:spPr>
          <a:xfrm>
            <a:off x="5883349" y="1767570"/>
            <a:ext cx="0" cy="4577668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8706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_columns_wide_picture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600" y="1502233"/>
            <a:ext cx="6201677" cy="2063332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928EB7D-0BED-E472-3FAF-47EFD1D8C7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63652" y="1507183"/>
            <a:ext cx="4865774" cy="2063331"/>
          </a:xfrm>
          <a:prstGeom prst="rect">
            <a:avLst/>
          </a:prstGeom>
        </p:spPr>
        <p:txBody>
          <a:bodyPr/>
          <a:lstStyle>
            <a:lvl1pPr marL="179388" indent="-179388"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DFABF063-9440-44AF-A095-65161B35A0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1601" y="4005942"/>
            <a:ext cx="11067825" cy="24480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5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_main_sides_with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485086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600" y="1502233"/>
            <a:ext cx="4854086" cy="27309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928EB7D-0BED-E472-3FAF-47EFD1D8C7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63651" y="1507183"/>
            <a:ext cx="4865775" cy="27309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cxnSp>
        <p:nvCxnSpPr>
          <p:cNvPr id="2" name="Google Shape;673;p26">
            <a:extLst>
              <a:ext uri="{FF2B5EF4-FFF2-40B4-BE49-F238E27FC236}">
                <a16:creationId xmlns:a16="http://schemas.microsoft.com/office/drawing/2014/main" id="{AD088C62-69E6-464F-2318-7751112906F5}"/>
              </a:ext>
            </a:extLst>
          </p:cNvPr>
          <p:cNvCxnSpPr/>
          <p:nvPr userDrawn="1"/>
        </p:nvCxnSpPr>
        <p:spPr>
          <a:xfrm>
            <a:off x="630260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676;p26">
            <a:extLst>
              <a:ext uri="{FF2B5EF4-FFF2-40B4-BE49-F238E27FC236}">
                <a16:creationId xmlns:a16="http://schemas.microsoft.com/office/drawing/2014/main" id="{6D28AADD-7C01-C6E5-C5CE-839E262FD85E}"/>
              </a:ext>
            </a:extLst>
          </p:cNvPr>
          <p:cNvSpPr/>
          <p:nvPr userDrawn="1"/>
        </p:nvSpPr>
        <p:spPr>
          <a:xfrm>
            <a:off x="6088056" y="962"/>
            <a:ext cx="3600" cy="685800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703;p26">
            <a:extLst>
              <a:ext uri="{FF2B5EF4-FFF2-40B4-BE49-F238E27FC236}">
                <a16:creationId xmlns:a16="http://schemas.microsoft.com/office/drawing/2014/main" id="{5E9E955E-55C8-68CF-B0E8-50CBEEDF7B72}"/>
              </a:ext>
            </a:extLst>
          </p:cNvPr>
          <p:cNvCxnSpPr/>
          <p:nvPr userDrawn="1"/>
        </p:nvCxnSpPr>
        <p:spPr>
          <a:xfrm>
            <a:off x="6660542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CE639383-E514-ACCA-5A7F-9EB34978E8E8}"/>
              </a:ext>
            </a:extLst>
          </p:cNvPr>
          <p:cNvSpPr txBox="1">
            <a:spLocks/>
          </p:cNvSpPr>
          <p:nvPr userDrawn="1"/>
        </p:nvSpPr>
        <p:spPr>
          <a:xfrm>
            <a:off x="6657554" y="685800"/>
            <a:ext cx="4614595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8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en-US" sz="2800" dirty="0"/>
              <a:t>Click to edit Master title style</a:t>
            </a:r>
          </a:p>
        </p:txBody>
      </p:sp>
      <p:sp>
        <p:nvSpPr>
          <p:cNvPr id="9" name="Google Shape;674;p26">
            <a:extLst>
              <a:ext uri="{FF2B5EF4-FFF2-40B4-BE49-F238E27FC236}">
                <a16:creationId xmlns:a16="http://schemas.microsoft.com/office/drawing/2014/main" id="{F9F39DE9-DC97-3B85-3889-757BC8B652A8}"/>
              </a:ext>
            </a:extLst>
          </p:cNvPr>
          <p:cNvSpPr/>
          <p:nvPr userDrawn="1"/>
        </p:nvSpPr>
        <p:spPr>
          <a:xfrm>
            <a:off x="6091143" y="689830"/>
            <a:ext cx="76201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849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_main_sides_with_lin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4850860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4854086" cy="27309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928EB7D-0BED-E472-3FAF-47EFD1D8C7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63651" y="1501200"/>
            <a:ext cx="4865775" cy="273098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cxnSp>
        <p:nvCxnSpPr>
          <p:cNvPr id="2" name="Google Shape;673;p26">
            <a:extLst>
              <a:ext uri="{FF2B5EF4-FFF2-40B4-BE49-F238E27FC236}">
                <a16:creationId xmlns:a16="http://schemas.microsoft.com/office/drawing/2014/main" id="{AD088C62-69E6-464F-2318-7751112906F5}"/>
              </a:ext>
            </a:extLst>
          </p:cNvPr>
          <p:cNvCxnSpPr/>
          <p:nvPr userDrawn="1"/>
        </p:nvCxnSpPr>
        <p:spPr>
          <a:xfrm>
            <a:off x="630260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676;p26">
            <a:extLst>
              <a:ext uri="{FF2B5EF4-FFF2-40B4-BE49-F238E27FC236}">
                <a16:creationId xmlns:a16="http://schemas.microsoft.com/office/drawing/2014/main" id="{6D28AADD-7C01-C6E5-C5CE-839E262FD85E}"/>
              </a:ext>
            </a:extLst>
          </p:cNvPr>
          <p:cNvSpPr/>
          <p:nvPr userDrawn="1"/>
        </p:nvSpPr>
        <p:spPr>
          <a:xfrm>
            <a:off x="6088056" y="962"/>
            <a:ext cx="3600" cy="685800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703;p26">
            <a:extLst>
              <a:ext uri="{FF2B5EF4-FFF2-40B4-BE49-F238E27FC236}">
                <a16:creationId xmlns:a16="http://schemas.microsoft.com/office/drawing/2014/main" id="{5E9E955E-55C8-68CF-B0E8-50CBEEDF7B72}"/>
              </a:ext>
            </a:extLst>
          </p:cNvPr>
          <p:cNvCxnSpPr/>
          <p:nvPr userDrawn="1"/>
        </p:nvCxnSpPr>
        <p:spPr>
          <a:xfrm>
            <a:off x="6660542" y="4319540"/>
            <a:ext cx="4372356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CE639383-E514-ACCA-5A7F-9EB34978E8E8}"/>
              </a:ext>
            </a:extLst>
          </p:cNvPr>
          <p:cNvSpPr txBox="1">
            <a:spLocks/>
          </p:cNvSpPr>
          <p:nvPr userDrawn="1"/>
        </p:nvSpPr>
        <p:spPr>
          <a:xfrm>
            <a:off x="6657554" y="685800"/>
            <a:ext cx="4614595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800" kern="1200" dirty="0">
                <a:solidFill>
                  <a:schemeClr val="tx2"/>
                </a:solidFill>
                <a:latin typeface="Montserrat Medium" panose="00000600000000000000" pitchFamily="50" charset="-18"/>
                <a:ea typeface="+mn-ea"/>
                <a:cs typeface="Open Sans" panose="020B0606030504020204" pitchFamily="34" charset="0"/>
              </a:defRPr>
            </a:lvl1pPr>
          </a:lstStyle>
          <a:p>
            <a:r>
              <a:rPr lang="en-US" sz="2800" dirty="0"/>
              <a:t>Click to edit Master title style</a:t>
            </a:r>
          </a:p>
        </p:txBody>
      </p:sp>
      <p:sp>
        <p:nvSpPr>
          <p:cNvPr id="9" name="Google Shape;674;p26">
            <a:extLst>
              <a:ext uri="{FF2B5EF4-FFF2-40B4-BE49-F238E27FC236}">
                <a16:creationId xmlns:a16="http://schemas.microsoft.com/office/drawing/2014/main" id="{F9F39DE9-DC97-3B85-3889-757BC8B652A8}"/>
              </a:ext>
            </a:extLst>
          </p:cNvPr>
          <p:cNvSpPr/>
          <p:nvPr userDrawn="1"/>
        </p:nvSpPr>
        <p:spPr>
          <a:xfrm>
            <a:off x="6091143" y="689830"/>
            <a:ext cx="76201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CB6DAC27-03FD-3DBA-E795-67216C5D7F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2850104"/>
            <a:ext cx="6096000" cy="4007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343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alf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3835402" cy="4287658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4BAD798-986F-F6AE-D4F1-A5C00EABE3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12589" y="15888"/>
            <a:ext cx="6379412" cy="6826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676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4" y="1501200"/>
            <a:ext cx="11295063" cy="4742857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90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wo_columns_wide_picture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1890-0505-5B85-B6CC-AC6BE964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501A1-1B6A-DFDA-CA07-2CDD50A95D21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D72C1A4C-3F11-B433-9A9A-3106D830B6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1600" y="3524493"/>
            <a:ext cx="11295438" cy="2356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15E33E5-5549-E759-2C0D-437B11654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1974" y="1501200"/>
            <a:ext cx="7042593" cy="1983541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F2DAC9F9-7762-7526-FD04-29B066565A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2911" y="1501200"/>
            <a:ext cx="4044127" cy="1983541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9569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wo_columns_wide_pictur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1890-0505-5B85-B6CC-AC6BE964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501A1-1B6A-DFDA-CA07-2CDD50A95D21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D72C1A4C-3F11-B433-9A9A-3106D830B6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1600" y="4218039"/>
            <a:ext cx="11295438" cy="1662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15E33E5-5549-E759-2C0D-437B11654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1975" y="1501200"/>
            <a:ext cx="3971926" cy="2724321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F2DAC9F9-7762-7526-FD04-29B066565A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9001" y="1501200"/>
            <a:ext cx="4197000" cy="2724321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488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roduct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0685861D-A5DC-724F-F265-EE87640B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A73-C87D-CBEA-5D21-0230A6C26C0B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D3EB16-298F-D22F-0771-AF09053CE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3835402" cy="4287658"/>
          </a:xfrm>
          <a:prstGeom prst="rect">
            <a:avLst/>
          </a:prstGeom>
        </p:spPr>
        <p:txBody>
          <a:bodyPr/>
          <a:lstStyle>
            <a:lvl1pPr marL="180000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4BAD798-986F-F6AE-D4F1-A5C00EABE3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84863" y="4107542"/>
            <a:ext cx="6307137" cy="23464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AU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281FBEA-AE0B-F283-7702-B5FC70B112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4863" y="1501200"/>
            <a:ext cx="5745162" cy="2302376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5"/>
            <a:r>
              <a:rPr lang="en-GB" dirty="0"/>
              <a:t>Second level</a:t>
            </a:r>
          </a:p>
          <a:p>
            <a:pPr lvl="6"/>
            <a:r>
              <a:rPr lang="en-GB" dirty="0"/>
              <a:t>Third level</a:t>
            </a:r>
          </a:p>
          <a:p>
            <a:pPr lvl="7"/>
            <a:r>
              <a:rPr lang="en-GB" dirty="0"/>
              <a:t>Fourth level</a:t>
            </a:r>
          </a:p>
          <a:p>
            <a:pPr lvl="8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6148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8">
            <a:extLst>
              <a:ext uri="{FF2B5EF4-FFF2-40B4-BE49-F238E27FC236}">
                <a16:creationId xmlns:a16="http://schemas.microsoft.com/office/drawing/2014/main" id="{8E4CB7D4-62E9-4B23-24E5-44ED5E11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AFD72-2408-41BD-E4DA-C6571F18D259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A4680E12-2D7F-E4D5-E0DC-326AC059E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1600" y="1502233"/>
            <a:ext cx="8305671" cy="19835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33350" indent="0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266700" indent="0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403225" indent="0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538162" indent="0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883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8">
            <a:extLst>
              <a:ext uri="{FF2B5EF4-FFF2-40B4-BE49-F238E27FC236}">
                <a16:creationId xmlns:a16="http://schemas.microsoft.com/office/drawing/2014/main" id="{1A9C98B9-F1BC-3CB5-8909-F2515ADB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656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8">
            <a:extLst>
              <a:ext uri="{FF2B5EF4-FFF2-40B4-BE49-F238E27FC236}">
                <a16:creationId xmlns:a16="http://schemas.microsoft.com/office/drawing/2014/main" id="{1A9C98B9-F1BC-3CB5-8909-F2515ADB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0C41A-7CDD-6304-291F-BB254D684602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0AEB067-6552-7CC0-C375-5F5ACFA3E7A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61600" y="1578694"/>
            <a:ext cx="8334400" cy="1530266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1100">
                <a:solidFill>
                  <a:schemeClr val="tx2"/>
                </a:solidFill>
              </a:defRPr>
            </a:lvl1pPr>
          </a:lstStyle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1410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8">
            <a:extLst>
              <a:ext uri="{FF2B5EF4-FFF2-40B4-BE49-F238E27FC236}">
                <a16:creationId xmlns:a16="http://schemas.microsoft.com/office/drawing/2014/main" id="{1A9C98B9-F1BC-3CB5-8909-F2515ADB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0C41A-7CDD-6304-291F-BB254D684602}"/>
              </a:ext>
            </a:extLst>
          </p:cNvPr>
          <p:cNvSpPr/>
          <p:nvPr userDrawn="1"/>
        </p:nvSpPr>
        <p:spPr>
          <a:xfrm>
            <a:off x="0" y="685800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A4C74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FB38109-5353-88AF-F024-043440AA70F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65556321"/>
              </p:ext>
            </p:extLst>
          </p:nvPr>
        </p:nvGraphicFramePr>
        <p:xfrm>
          <a:off x="561600" y="1711068"/>
          <a:ext cx="81280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842711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343717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857384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281008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503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88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859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587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1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73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;p39">
            <a:extLst>
              <a:ext uri="{FF2B5EF4-FFF2-40B4-BE49-F238E27FC236}">
                <a16:creationId xmlns:a16="http://schemas.microsoft.com/office/drawing/2014/main" id="{2A50484E-96C3-8F05-1DAC-7B788C194C5A}"/>
              </a:ext>
            </a:extLst>
          </p:cNvPr>
          <p:cNvPicPr preferRelativeResize="0"/>
          <p:nvPr userDrawn="1"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DFFAF1FD-AC22-FD8B-893A-C7DED013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716400"/>
            <a:ext cx="8334401" cy="47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948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49" r:id="rId2"/>
    <p:sldLayoutId id="2147483696" r:id="rId3"/>
    <p:sldLayoutId id="2147483695" r:id="rId4"/>
    <p:sldLayoutId id="2147483663" r:id="rId5"/>
    <p:sldLayoutId id="2147483698" r:id="rId6"/>
    <p:sldLayoutId id="2147483699" r:id="rId7"/>
    <p:sldLayoutId id="2147483700" r:id="rId8"/>
    <p:sldLayoutId id="2147483697" r:id="rId9"/>
    <p:sldLayoutId id="2147483692" r:id="rId10"/>
    <p:sldLayoutId id="2147483690" r:id="rId11"/>
    <p:sldLayoutId id="2147483693" r:id="rId12"/>
    <p:sldLayoutId id="2147483701" r:id="rId13"/>
    <p:sldLayoutId id="2147483661" r:id="rId14"/>
    <p:sldLayoutId id="2147483669" r:id="rId15"/>
    <p:sldLayoutId id="2147483702" r:id="rId16"/>
    <p:sldLayoutId id="21474837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2800" kern="1200" dirty="0">
          <a:solidFill>
            <a:schemeClr val="tx2"/>
          </a:solidFill>
          <a:latin typeface="Montserrat Medium" panose="00000600000000000000" pitchFamily="50" charset="-18"/>
          <a:ea typeface="+mn-ea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72" userDrawn="1">
          <p15:clr>
            <a:srgbClr val="F26B43"/>
          </p15:clr>
        </p15:guide>
        <p15:guide id="4" pos="3908" userDrawn="1">
          <p15:clr>
            <a:srgbClr val="F26B43"/>
          </p15:clr>
        </p15:guide>
        <p15:guide id="5" orient="horz" pos="50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822" userDrawn="1">
          <p15:clr>
            <a:srgbClr val="F26B43"/>
          </p15:clr>
        </p15:guide>
        <p15:guide id="9" pos="7469" userDrawn="1">
          <p15:clr>
            <a:srgbClr val="F26B43"/>
          </p15:clr>
        </p15:guide>
        <p15:guide id="10" orient="horz" pos="3838" userDrawn="1">
          <p15:clr>
            <a:srgbClr val="F26B43"/>
          </p15:clr>
        </p15:guide>
        <p15:guide id="11" pos="211" userDrawn="1">
          <p15:clr>
            <a:srgbClr val="F26B43"/>
          </p15:clr>
        </p15:guide>
        <p15:guide id="12" pos="2547" userDrawn="1">
          <p15:clr>
            <a:srgbClr val="F26B43"/>
          </p15:clr>
        </p15:guide>
        <p15:guide id="13" pos="2683" userDrawn="1">
          <p15:clr>
            <a:srgbClr val="F26B43"/>
          </p15:clr>
        </p15:guide>
        <p15:guide id="14" pos="5019" userDrawn="1">
          <p15:clr>
            <a:srgbClr val="F26B43"/>
          </p15:clr>
        </p15:guide>
        <p15:guide id="15" pos="51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picture containing outdoor, apartment building&#10;&#10;Description automatically generated">
            <a:extLst>
              <a:ext uri="{FF2B5EF4-FFF2-40B4-BE49-F238E27FC236}">
                <a16:creationId xmlns:a16="http://schemas.microsoft.com/office/drawing/2014/main" id="{288F366B-24C5-0BAC-DDAF-CFCFBB737B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57" b="-2"/>
          <a:stretch/>
        </p:blipFill>
        <p:spPr>
          <a:xfrm>
            <a:off x="0" y="716400"/>
            <a:ext cx="12192000" cy="6141600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A60AA8F-CEFD-D387-172B-2A38A2A3C3AD}"/>
              </a:ext>
            </a:extLst>
          </p:cNvPr>
          <p:cNvSpPr/>
          <p:nvPr/>
        </p:nvSpPr>
        <p:spPr>
          <a:xfrm>
            <a:off x="0" y="2144231"/>
            <a:ext cx="5978525" cy="1492250"/>
          </a:xfrm>
          <a:prstGeom prst="rect">
            <a:avLst/>
          </a:prstGeom>
          <a:solidFill>
            <a:schemeClr val="dk1">
              <a:alpha val="49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r-Latn-BA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768624-13CE-22CC-098A-1EF008CB4EB5}"/>
              </a:ext>
            </a:extLst>
          </p:cNvPr>
          <p:cNvSpPr/>
          <p:nvPr/>
        </p:nvSpPr>
        <p:spPr>
          <a:xfrm>
            <a:off x="5978525" y="2144231"/>
            <a:ext cx="117475" cy="1489075"/>
          </a:xfrm>
          <a:prstGeom prst="rect">
            <a:avLst/>
          </a:prstGeom>
          <a:solidFill>
            <a:srgbClr val="897C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r-Latn-BA" noProof="0" dirty="0">
              <a:solidFill>
                <a:srgbClr val="E6014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2B3DA6-88D3-F108-9897-84776CF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noProof="0" dirty="0" err="1"/>
              <a:t>Ljetna</a:t>
            </a:r>
            <a:r>
              <a:rPr lang="sr-Latn-BA" noProof="0" dirty="0"/>
              <a:t> škola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7FEB5C-7EF0-D5EE-3D92-269A6EB092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r-Latn-BA" noProof="0" dirty="0"/>
              <a:t>Programski jezik 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792E6F-F175-14AD-12F3-D74D945EBA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r-Latn-BA" noProof="0" dirty="0"/>
          </a:p>
        </p:txBody>
      </p:sp>
    </p:spTree>
    <p:extLst>
      <p:ext uri="{BB962C8B-B14F-4D97-AF65-F5344CB8AC3E}">
        <p14:creationId xmlns:p14="http://schemas.microsoft.com/office/powerpoint/2010/main" val="253399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F59E-249D-EF72-B1EF-F58FF7C3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noProof="0" dirty="0"/>
              <a:t>Uvod</a:t>
            </a:r>
          </a:p>
        </p:txBody>
      </p:sp>
      <p:pic>
        <p:nvPicPr>
          <p:cNvPr id="5" name="Picture Placeholder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C71CFE8A-239B-75A8-250F-39A802A93F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3" b="204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88493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Uvod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Osnovni podaci</a:t>
            </a:r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Napravljen je 70ih godina 20 vijeka (</a:t>
            </a:r>
            <a:r>
              <a:rPr lang="sr-Latn-BA" sz="1400" noProof="0" dirty="0" err="1"/>
              <a:t>Dennis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Ritchie</a:t>
            </a:r>
            <a:r>
              <a:rPr lang="sr-Latn-BA" sz="1400" noProof="0" dirty="0"/>
              <a:t>)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Nasljednik</a:t>
            </a:r>
            <a:r>
              <a:rPr lang="sr-Latn-BA" sz="1400" noProof="0" dirty="0"/>
              <a:t> BCPL (Martin </a:t>
            </a:r>
            <a:r>
              <a:rPr lang="sr-Latn-BA" sz="1400" noProof="0" dirty="0" err="1"/>
              <a:t>Richards</a:t>
            </a:r>
            <a:r>
              <a:rPr lang="sr-Latn-BA" sz="1400" noProof="0" dirty="0"/>
              <a:t>), B (Ken </a:t>
            </a:r>
            <a:r>
              <a:rPr lang="sr-Latn-BA" sz="1400" noProof="0" dirty="0" err="1"/>
              <a:t>Thompson</a:t>
            </a:r>
            <a:r>
              <a:rPr lang="sr-Latn-BA" sz="1400" noProof="0" dirty="0"/>
              <a:t>)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Razvoj podstaknut I prepleten sa razvojem </a:t>
            </a:r>
            <a:r>
              <a:rPr lang="sr-Latn-BA" sz="1400" noProof="0" dirty="0" err="1"/>
              <a:t>Unix</a:t>
            </a:r>
            <a:r>
              <a:rPr lang="sr-Latn-BA" sz="1400" noProof="0" dirty="0"/>
              <a:t> operativnog sistema</a:t>
            </a:r>
          </a:p>
          <a:p>
            <a:pPr marL="182880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Pun pristup hardveru i mogućnost inkorporacije asemblerskog koda ga pozicionirali kao idealan jezik za razvoja jezgra raznih operativnih sistema  kao I aplikacija za sisteme nestandardne arhitekture i ograničenog resursa</a:t>
            </a:r>
          </a:p>
          <a:p>
            <a:pPr marL="182880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Imperativni, proceduralni jezik sa statičkim sistemom tipova</a:t>
            </a:r>
          </a:p>
          <a:p>
            <a:pPr marL="182880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Može se diskutovati da li je jako ili slabo tipiziran jezik</a:t>
            </a:r>
          </a:p>
          <a:p>
            <a:pPr marL="182880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endParaRPr lang="sr-Latn-BA" noProof="0" dirty="0"/>
          </a:p>
        </p:txBody>
      </p:sp>
    </p:spTree>
    <p:extLst>
      <p:ext uri="{BB962C8B-B14F-4D97-AF65-F5344CB8AC3E}">
        <p14:creationId xmlns:p14="http://schemas.microsoft.com/office/powerpoint/2010/main" val="427130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Uvod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Osnovni podaci</a:t>
            </a:r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C je jezik opšte namjene (general </a:t>
            </a:r>
            <a:r>
              <a:rPr lang="sr-Latn-BA" sz="1400" noProof="0" dirty="0" err="1"/>
              <a:t>purpose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language</a:t>
            </a:r>
            <a:r>
              <a:rPr lang="sr-Latn-BA" sz="1400" noProof="0" dirty="0"/>
              <a:t>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Operativni sistemi (</a:t>
            </a:r>
            <a:r>
              <a:rPr lang="sr-Latn-BA" sz="1400" noProof="0" dirty="0" err="1"/>
              <a:t>kerneli</a:t>
            </a:r>
            <a:r>
              <a:rPr lang="sr-Latn-BA" sz="1400" noProof="0" dirty="0"/>
              <a:t>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Drajveri uređaja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Protokoli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Korisničke aplikacije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Računarska grafika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Embedded</a:t>
            </a:r>
            <a:r>
              <a:rPr lang="sr-Latn-BA" sz="1400" noProof="0" dirty="0"/>
              <a:t> sistemi</a:t>
            </a:r>
          </a:p>
        </p:txBody>
      </p:sp>
    </p:spTree>
    <p:extLst>
      <p:ext uri="{BB962C8B-B14F-4D97-AF65-F5344CB8AC3E}">
        <p14:creationId xmlns:p14="http://schemas.microsoft.com/office/powerpoint/2010/main" val="554716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F59E-249D-EF72-B1EF-F58FF7C3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noProof="0" dirty="0"/>
              <a:t>Osnovi C jezika</a:t>
            </a:r>
          </a:p>
        </p:txBody>
      </p:sp>
      <p:pic>
        <p:nvPicPr>
          <p:cNvPr id="5" name="Picture Placeholder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C71CFE8A-239B-75A8-250F-39A802A93F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3" b="204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74469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Osnovni podaci</a:t>
            </a:r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Faze prevođenja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Pretprocesiranje</a:t>
            </a:r>
            <a:endParaRPr lang="sr-Latn-BA" sz="1400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Kompajliranje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Asembliranje</a:t>
            </a:r>
            <a:endParaRPr lang="sr-Latn-BA" sz="1400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Linkovanje</a:t>
            </a:r>
            <a:endParaRPr lang="sr-Latn-BA" sz="1400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</p:txBody>
      </p:sp>
      <p:pic>
        <p:nvPicPr>
          <p:cNvPr id="1028" name="Picture 4" descr="compiler c program - OFF-52% &gt; Shipping free">
            <a:extLst>
              <a:ext uri="{FF2B5EF4-FFF2-40B4-BE49-F238E27FC236}">
                <a16:creationId xmlns:a16="http://schemas.microsoft.com/office/drawing/2014/main" id="{A7B3628C-52D6-2218-69D5-C61A73F11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447" y="1038225"/>
            <a:ext cx="3952875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807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Osnovni tipovi</a:t>
            </a:r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Cjelobrojni (</a:t>
            </a:r>
            <a:r>
              <a:rPr lang="sr-Latn-BA" sz="1400" b="1" noProof="0" dirty="0" err="1"/>
              <a:t>int</a:t>
            </a:r>
            <a:r>
              <a:rPr lang="sr-Latn-BA" sz="1400" noProof="0" dirty="0"/>
              <a:t>)</a:t>
            </a:r>
          </a:p>
          <a:p>
            <a:pPr lvl="4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Karakterni (</a:t>
            </a:r>
            <a:r>
              <a:rPr lang="sr-Latn-BA" sz="1400" b="1" noProof="0" dirty="0" err="1"/>
              <a:t>char</a:t>
            </a:r>
            <a:r>
              <a:rPr lang="sr-Latn-BA" sz="1400" noProof="0" dirty="0"/>
              <a:t>)</a:t>
            </a:r>
          </a:p>
          <a:p>
            <a:pPr lvl="4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Varijabilna preciznost (</a:t>
            </a:r>
            <a:r>
              <a:rPr lang="sr-Latn-BA" sz="1400" b="1" noProof="0" dirty="0" err="1"/>
              <a:t>float</a:t>
            </a:r>
            <a:r>
              <a:rPr lang="sr-Latn-BA" sz="1400" noProof="0" dirty="0"/>
              <a:t>, </a:t>
            </a:r>
            <a:r>
              <a:rPr lang="sr-Latn-BA" sz="1400" b="1" noProof="0" dirty="0" err="1"/>
              <a:t>double</a:t>
            </a:r>
            <a:r>
              <a:rPr lang="sr-Latn-BA" sz="1400" noProof="0" dirty="0"/>
              <a:t>)</a:t>
            </a:r>
          </a:p>
          <a:p>
            <a:pPr lvl="4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pPr lvl="4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pPr lvl="4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Koja je veličina varijable cjelobrojnog podatka </a:t>
            </a:r>
            <a:r>
              <a:rPr lang="sr-Latn-BA" sz="1400" b="1" noProof="0" dirty="0" err="1"/>
              <a:t>int</a:t>
            </a:r>
            <a:r>
              <a:rPr lang="sr-Latn-BA" sz="1400" noProof="0" dirty="0"/>
              <a:t>?</a:t>
            </a:r>
          </a:p>
          <a:p>
            <a:pPr lvl="4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pPr lvl="4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Moguće je dodati dodatne kvalifikatore na bazni tip </a:t>
            </a:r>
            <a:r>
              <a:rPr lang="sr-Latn-BA" sz="1400" b="1" i="1" noProof="0" dirty="0" err="1"/>
              <a:t>long</a:t>
            </a:r>
            <a:r>
              <a:rPr lang="sr-Latn-BA" sz="1400" i="1" noProof="0" dirty="0"/>
              <a:t> </a:t>
            </a:r>
            <a:r>
              <a:rPr lang="sr-Latn-BA" sz="1400" noProof="0" dirty="0"/>
              <a:t>i </a:t>
            </a:r>
            <a:r>
              <a:rPr lang="sr-Latn-BA" sz="1400" b="1" i="1" noProof="0" dirty="0" err="1"/>
              <a:t>short</a:t>
            </a:r>
            <a:r>
              <a:rPr lang="sr-Latn-BA" sz="1400" i="1" noProof="0" dirty="0"/>
              <a:t>.</a:t>
            </a:r>
            <a:r>
              <a:rPr lang="sr-Latn-BA" sz="1400" noProof="0" dirty="0"/>
              <a:t> Tako se dobijaju dodatni tipovi kao što su </a:t>
            </a:r>
            <a:r>
              <a:rPr lang="sr-Latn-BA" sz="1400" b="1" noProof="0" dirty="0" err="1"/>
              <a:t>short</a:t>
            </a:r>
            <a:r>
              <a:rPr lang="sr-Latn-BA" sz="1400" b="1" noProof="0" dirty="0"/>
              <a:t> </a:t>
            </a:r>
            <a:r>
              <a:rPr lang="sr-Latn-BA" sz="1400" b="1" noProof="0" dirty="0" err="1"/>
              <a:t>int</a:t>
            </a:r>
            <a:r>
              <a:rPr lang="sr-Latn-BA" sz="1400" noProof="0" dirty="0"/>
              <a:t>, </a:t>
            </a:r>
            <a:r>
              <a:rPr lang="sr-Latn-BA" sz="1400" b="1" noProof="0" dirty="0" err="1"/>
              <a:t>long</a:t>
            </a:r>
            <a:r>
              <a:rPr lang="sr-Latn-BA" sz="1400" b="1" noProof="0" dirty="0"/>
              <a:t> </a:t>
            </a:r>
            <a:r>
              <a:rPr lang="sr-Latn-BA" sz="1400" b="1" noProof="0" dirty="0" err="1"/>
              <a:t>int</a:t>
            </a:r>
            <a:r>
              <a:rPr lang="sr-Latn-BA" sz="1400" noProof="0" dirty="0"/>
              <a:t>, </a:t>
            </a:r>
            <a:r>
              <a:rPr lang="sr-Latn-BA" sz="1400" b="1" noProof="0" dirty="0" err="1"/>
              <a:t>long</a:t>
            </a:r>
            <a:r>
              <a:rPr lang="sr-Latn-BA" sz="1400" b="1" noProof="0" dirty="0"/>
              <a:t> </a:t>
            </a:r>
            <a:r>
              <a:rPr lang="sr-Latn-BA" sz="1400" b="1" noProof="0" dirty="0" err="1"/>
              <a:t>long</a:t>
            </a:r>
            <a:r>
              <a:rPr lang="sr-Latn-BA" sz="1400" noProof="0" dirty="0"/>
              <a:t>.</a:t>
            </a:r>
          </a:p>
          <a:p>
            <a:pPr marL="0" lvl="4" indent="0">
              <a:lnSpc>
                <a:spcPct val="114000"/>
              </a:lnSpc>
              <a:spcAft>
                <a:spcPts val="600"/>
              </a:spcAft>
              <a:buNone/>
            </a:pPr>
            <a:endParaRPr lang="sr-Latn-BA" sz="1400" noProof="0" dirty="0"/>
          </a:p>
        </p:txBody>
      </p:sp>
    </p:spTree>
    <p:extLst>
      <p:ext uri="{BB962C8B-B14F-4D97-AF65-F5344CB8AC3E}">
        <p14:creationId xmlns:p14="http://schemas.microsoft.com/office/powerpoint/2010/main" val="234315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Osnovni tipovi</a:t>
            </a:r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Primjer veličine cjelobrojnih podataka upotrebom </a:t>
            </a:r>
            <a:r>
              <a:rPr lang="sr-Latn-BA" sz="1400" b="1" noProof="0" dirty="0" err="1"/>
              <a:t>gcc</a:t>
            </a:r>
            <a:r>
              <a:rPr lang="sr-Latn-BA" sz="1400" noProof="0" dirty="0"/>
              <a:t> kompajlera za 64bit platformu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83723-8E22-D003-35C8-289F972F9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173" y="2784441"/>
            <a:ext cx="8146666" cy="226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93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Osnovni tipovi</a:t>
            </a:r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Dodatni </a:t>
            </a:r>
            <a:r>
              <a:rPr lang="sr-Latn-BA" sz="1400" noProof="0" dirty="0" err="1"/>
              <a:t>modifikatori</a:t>
            </a:r>
            <a:r>
              <a:rPr lang="sr-Latn-BA" sz="1400" noProof="0" dirty="0"/>
              <a:t> za cjelobrojne podatke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b="1" noProof="0" dirty="0" err="1"/>
              <a:t>signed</a:t>
            </a:r>
            <a:r>
              <a:rPr lang="sr-Latn-BA" sz="1400" noProof="0" dirty="0"/>
              <a:t> (varijabla je pozitivan broj, nula, ili negativan broj)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b="1" noProof="0" dirty="0" err="1"/>
              <a:t>unsigned</a:t>
            </a:r>
            <a:r>
              <a:rPr lang="sr-Latn-BA" sz="1400" noProof="0" dirty="0"/>
              <a:t> (varijabla je pozitivan broj ili nula)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pPr lvl="5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Postoje </a:t>
            </a:r>
            <a:r>
              <a:rPr lang="sr-Latn-BA" sz="1400" noProof="0" dirty="0" err="1"/>
              <a:t>predeklarisani</a:t>
            </a:r>
            <a:r>
              <a:rPr lang="sr-Latn-BA" sz="1400" noProof="0" dirty="0"/>
              <a:t> tipovi </a:t>
            </a:r>
            <a:r>
              <a:rPr lang="sr-Latn-BA" sz="1400" b="1" noProof="0" dirty="0" err="1"/>
              <a:t>intXX_fast_t</a:t>
            </a:r>
            <a:r>
              <a:rPr lang="sr-Latn-BA" sz="1400" noProof="0" dirty="0"/>
              <a:t>, </a:t>
            </a:r>
            <a:r>
              <a:rPr lang="sr-Latn-BA" sz="1400" b="1" noProof="0" dirty="0" err="1"/>
              <a:t>intXX_least_t</a:t>
            </a:r>
            <a:r>
              <a:rPr lang="sr-Latn-BA" sz="1400" noProof="0" dirty="0"/>
              <a:t>, </a:t>
            </a:r>
            <a:r>
              <a:rPr lang="sr-Latn-BA" sz="1400" b="1" noProof="0" dirty="0" err="1"/>
              <a:t>intmax_t</a:t>
            </a:r>
            <a:r>
              <a:rPr lang="sr-Latn-BA" sz="1400" noProof="0" dirty="0"/>
              <a:t>, </a:t>
            </a:r>
            <a:r>
              <a:rPr lang="sr-Latn-BA" sz="1400" b="1" noProof="0" dirty="0" err="1"/>
              <a:t>intXX_t</a:t>
            </a:r>
            <a:r>
              <a:rPr lang="sr-Latn-BA" sz="1400" b="1" noProof="0" dirty="0"/>
              <a:t> </a:t>
            </a:r>
            <a:r>
              <a:rPr lang="sr-Latn-BA" sz="1400" noProof="0" dirty="0"/>
              <a:t>i </a:t>
            </a:r>
            <a:r>
              <a:rPr lang="sr-Latn-BA" sz="1400" b="1" noProof="0" dirty="0" err="1"/>
              <a:t>intptr_t</a:t>
            </a:r>
            <a:r>
              <a:rPr lang="sr-Latn-BA" sz="1400" noProof="0" dirty="0"/>
              <a:t> pri čemu je XX {8, 16, 32, 64} koji garantuju veličinu varijabli tipova na svim platformama</a:t>
            </a:r>
          </a:p>
          <a:p>
            <a:pPr lvl="5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pPr lvl="5">
              <a:lnSpc>
                <a:spcPct val="114000"/>
              </a:lnSpc>
              <a:spcAft>
                <a:spcPts val="600"/>
              </a:spcAft>
            </a:pPr>
            <a:r>
              <a:rPr lang="sr-Latn-BA" sz="1400" b="1" noProof="0" dirty="0" err="1"/>
              <a:t>void</a:t>
            </a:r>
            <a:r>
              <a:rPr lang="sr-Latn-BA" sz="1400" noProof="0" dirty="0"/>
              <a:t> tip</a:t>
            </a:r>
          </a:p>
          <a:p>
            <a:pPr lvl="5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Enumeratori</a:t>
            </a:r>
            <a:r>
              <a:rPr lang="sr-Latn-BA" sz="1400" noProof="0" dirty="0"/>
              <a:t> </a:t>
            </a:r>
            <a:r>
              <a:rPr lang="sr-Latn-BA" sz="1400" b="1" noProof="0" dirty="0" err="1"/>
              <a:t>enum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tag_name</a:t>
            </a:r>
            <a:r>
              <a:rPr lang="sr-Latn-BA" sz="1400" noProof="0" dirty="0"/>
              <a:t> { prvi, drugi, </a:t>
            </a:r>
            <a:r>
              <a:rPr lang="sr-Latn-BA" sz="1400" noProof="0" dirty="0" err="1"/>
              <a:t>treci</a:t>
            </a:r>
            <a:r>
              <a:rPr lang="sr-Latn-BA" sz="1400" noProof="0" dirty="0"/>
              <a:t> }; </a:t>
            </a:r>
          </a:p>
        </p:txBody>
      </p:sp>
    </p:spTree>
    <p:extLst>
      <p:ext uri="{BB962C8B-B14F-4D97-AF65-F5344CB8AC3E}">
        <p14:creationId xmlns:p14="http://schemas.microsoft.com/office/powerpoint/2010/main" val="3720429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Izvedeni tipovi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Nizovi – skup elemenata istog tipa, veličina zadana pri deklaraciji ili inicijalizaciji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Strukture – sadrže povezane podatke kao članove ili </a:t>
            </a:r>
            <a:r>
              <a:rPr lang="sr-Latn-BA" sz="1400" noProof="0" dirty="0" err="1"/>
              <a:t>bitska</a:t>
            </a:r>
            <a:r>
              <a:rPr lang="sr-Latn-BA" sz="1400" noProof="0" dirty="0"/>
              <a:t> polja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Unije – za upotrebu istog memorijskog prostora za različite podatke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Funkcijski tipovi (obuhvataju tipove parametra i povratnu vrijednost)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Pokazivači – pokazuju na lokaciju podatka ili funkcija</a:t>
            </a:r>
          </a:p>
        </p:txBody>
      </p:sp>
    </p:spTree>
    <p:extLst>
      <p:ext uri="{BB962C8B-B14F-4D97-AF65-F5344CB8AC3E}">
        <p14:creationId xmlns:p14="http://schemas.microsoft.com/office/powerpoint/2010/main" val="142629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Kvalifikatori tipova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b="1" noProof="0" dirty="0" err="1"/>
              <a:t>const</a:t>
            </a:r>
            <a:r>
              <a:rPr lang="sr-Latn-BA" sz="1400" noProof="0" dirty="0"/>
              <a:t> – varijabla je konstanta, radi </a:t>
            </a:r>
            <a:r>
              <a:rPr lang="sr-Latn-BA" sz="1400" noProof="0" dirty="0" err="1"/>
              <a:t>sprečavanja</a:t>
            </a:r>
            <a:r>
              <a:rPr lang="sr-Latn-BA" sz="1400" noProof="0" dirty="0"/>
              <a:t> pojedinih grešaka i optimizacije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b="1" noProof="0" dirty="0" err="1"/>
              <a:t>volatile</a:t>
            </a:r>
            <a:r>
              <a:rPr lang="sr-Latn-BA" sz="1400" noProof="0" dirty="0"/>
              <a:t> – </a:t>
            </a:r>
            <a:r>
              <a:rPr lang="sr-Latn-BA" sz="1400" noProof="0" dirty="0" err="1"/>
              <a:t>sprečava</a:t>
            </a:r>
            <a:r>
              <a:rPr lang="sr-Latn-BA" sz="1400" noProof="0" dirty="0"/>
              <a:t> optimizacije koje bi sakrile izmjene podataka napravljene u drugom dijelu koda, drugom programu ili od strane hardvera. Veoma značajno za pisanje drajvera i u razvoja </a:t>
            </a:r>
            <a:r>
              <a:rPr lang="sr-Latn-BA" sz="1400" noProof="0" dirty="0" err="1"/>
              <a:t>ugradbenih</a:t>
            </a:r>
            <a:r>
              <a:rPr lang="sr-Latn-BA" sz="1400" noProof="0" dirty="0"/>
              <a:t> sistema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b="1" noProof="0" dirty="0" err="1"/>
              <a:t>restrict</a:t>
            </a:r>
            <a:r>
              <a:rPr lang="sr-Latn-BA" sz="1400" b="1" noProof="0" dirty="0"/>
              <a:t> </a:t>
            </a:r>
            <a:r>
              <a:rPr lang="sr-Latn-BA" sz="1400" noProof="0" dirty="0"/>
              <a:t>–  u deklaracijama funkcija, označava ekskluzivni pristup kroz određeni pokazivač, omogućava dodatne optimizacije pri kompajliranju</a:t>
            </a:r>
          </a:p>
        </p:txBody>
      </p:sp>
    </p:spTree>
    <p:extLst>
      <p:ext uri="{BB962C8B-B14F-4D97-AF65-F5344CB8AC3E}">
        <p14:creationId xmlns:p14="http://schemas.microsoft.com/office/powerpoint/2010/main" val="4186700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Funkcije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Osnovni elementi proceduralnog programiranja u C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Omogućavaju višestruku upotrebu istog koda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Poboljšavaju kvalitet koda kroz primjenu </a:t>
            </a:r>
            <a:r>
              <a:rPr lang="sr-Latn-BA" sz="1400" i="1" noProof="0" dirty="0" err="1"/>
              <a:t>dry</a:t>
            </a:r>
            <a:r>
              <a:rPr lang="sr-Latn-BA" sz="1400" i="1" noProof="0" dirty="0"/>
              <a:t> </a:t>
            </a:r>
            <a:r>
              <a:rPr lang="sr-Latn-BA" sz="1400" noProof="0" dirty="0"/>
              <a:t>(</a:t>
            </a:r>
            <a:r>
              <a:rPr lang="sr-Latn-BA" sz="1400" noProof="0" dirty="0" err="1"/>
              <a:t>don’t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repeat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yourself</a:t>
            </a:r>
            <a:r>
              <a:rPr lang="sr-Latn-BA" sz="1400" noProof="0" dirty="0"/>
              <a:t>) principa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Omogućavaju rješavanje grešaka na jednom mjestu umjesto na više dijelova programa sa istim kodom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Deklaracija funkcije određuje ime, povratnu vrijednost, tip i broj argumenata i dostupnost funkcije (npr. </a:t>
            </a:r>
            <a:r>
              <a:rPr lang="sr-Latn-BA" sz="1400" noProof="0" dirty="0" err="1"/>
              <a:t>static</a:t>
            </a:r>
            <a:r>
              <a:rPr lang="sr-Latn-BA" sz="1400" noProof="0" dirty="0"/>
              <a:t>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Prenos</a:t>
            </a:r>
            <a:r>
              <a:rPr lang="sr-Latn-BA" sz="1400" noProof="0" dirty="0"/>
              <a:t> parametara moguć po vrijednosti ili po pokazivaču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Veći parametri se uvijek prenose po pokazivaču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Složeni rezultati se mogu vraćati kroz </a:t>
            </a:r>
            <a:r>
              <a:rPr lang="sr-Latn-BA" sz="1400" noProof="0" dirty="0" err="1"/>
              <a:t>prealociranu</a:t>
            </a:r>
            <a:r>
              <a:rPr lang="sr-Latn-BA" sz="1400" noProof="0" dirty="0"/>
              <a:t> strukturu koja je proslijeđena kroz pokazivač kao parametar funkcije</a:t>
            </a:r>
          </a:p>
        </p:txBody>
      </p:sp>
    </p:spTree>
    <p:extLst>
      <p:ext uri="{BB962C8B-B14F-4D97-AF65-F5344CB8AC3E}">
        <p14:creationId xmlns:p14="http://schemas.microsoft.com/office/powerpoint/2010/main" val="2760268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Funkcije</a:t>
            </a:r>
          </a:p>
          <a:p>
            <a:pPr marL="0" indent="0">
              <a:buNone/>
            </a:pPr>
            <a:endParaRPr lang="sr-Latn-BA" noProof="0" dirty="0"/>
          </a:p>
          <a:p>
            <a:pPr marL="0" indent="0">
              <a:buNone/>
            </a:pPr>
            <a:endParaRPr lang="sr-Latn-BA" noProof="0" dirty="0"/>
          </a:p>
          <a:p>
            <a:pPr marL="0" indent="0">
              <a:buNone/>
            </a:pPr>
            <a:endParaRPr lang="sr-Latn-BA" noProof="0" dirty="0"/>
          </a:p>
          <a:p>
            <a:pPr marL="0" indent="0">
              <a:buNone/>
            </a:pPr>
            <a:endParaRPr lang="sr-Latn-BA" noProof="0" dirty="0"/>
          </a:p>
          <a:p>
            <a:pPr marL="0" indent="0">
              <a:buNone/>
            </a:pPr>
            <a:endParaRPr lang="sr-Latn-BA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980D8-5161-86B2-EBED-DAFA0840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010" y="2598832"/>
            <a:ext cx="9537980" cy="186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63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3257996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Deklaracije I definicije</a:t>
            </a:r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Deklaracija predstavlja uvođenje identifikatora, njegovog značenja i oblasti važenja u program i mašinu stanja kompajlera.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Definicija predstavlja zauzimanje prostora u kom će biti stvarni objekat i njegova dodjela identifikatoru.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D5FFB3-92F2-DBD4-46C8-0FE331045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370" y="494732"/>
            <a:ext cx="4629722" cy="586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6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490733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 err="1"/>
              <a:t>Storage</a:t>
            </a:r>
            <a:r>
              <a:rPr lang="sr-Latn-BA" sz="1600" b="1" noProof="0" dirty="0"/>
              <a:t> </a:t>
            </a:r>
            <a:r>
              <a:rPr lang="sr-Latn-BA" sz="1600" b="1" noProof="0" dirty="0" err="1"/>
              <a:t>class</a:t>
            </a:r>
            <a:r>
              <a:rPr lang="sr-Latn-BA" sz="1600" b="1" noProof="0" dirty="0"/>
              <a:t> </a:t>
            </a:r>
            <a:r>
              <a:rPr lang="sr-Latn-BA" sz="1600" b="1" noProof="0" dirty="0" err="1"/>
              <a:t>specifikatori</a:t>
            </a:r>
            <a:endParaRPr lang="sr-Latn-BA" sz="1600" b="1" noProof="0" dirty="0"/>
          </a:p>
          <a:p>
            <a:pPr marL="0" indent="0">
              <a:buNone/>
            </a:pPr>
            <a:endParaRPr lang="sr-Latn-BA" noProof="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Mogućnost specifikacije smještaja promjenjivih (</a:t>
            </a:r>
            <a:r>
              <a:rPr lang="sr-Latn-BA" sz="1400" noProof="0" dirty="0" err="1"/>
              <a:t>storage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class</a:t>
            </a:r>
            <a:r>
              <a:rPr lang="sr-Latn-BA" sz="1400" noProof="0" dirty="0"/>
              <a:t>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i="1" noProof="0" dirty="0"/>
              <a:t>auto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i="1" noProof="0" dirty="0" err="1"/>
              <a:t>register</a:t>
            </a:r>
            <a:endParaRPr lang="sr-Latn-BA" sz="1400" i="1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i="1" noProof="0" dirty="0" err="1"/>
              <a:t>static</a:t>
            </a:r>
            <a:endParaRPr lang="sr-Latn-BA" sz="1400" i="1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i="1" noProof="0" dirty="0" err="1"/>
              <a:t>extern</a:t>
            </a:r>
            <a:endParaRPr lang="sr-Latn-BA" sz="1400" i="1" noProof="0" dirty="0"/>
          </a:p>
          <a:p>
            <a:pPr lvl="5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Određuju trajanje i mogućnost povezivanja (</a:t>
            </a:r>
            <a:r>
              <a:rPr lang="sr-Latn-BA" sz="1400" noProof="0" dirty="0" err="1"/>
              <a:t>linkage</a:t>
            </a:r>
            <a:r>
              <a:rPr lang="sr-Latn-BA" sz="1400" noProof="0" dirty="0"/>
              <a:t>) iz drugih opsega vidljivosti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1E738-DE10-460F-E76A-0AB9204CC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056" y="421544"/>
            <a:ext cx="5234923" cy="60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30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Osnovi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45398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 err="1"/>
              <a:t>Rekurzivne</a:t>
            </a:r>
            <a:r>
              <a:rPr lang="sr-Latn-BA" sz="1600" b="1" noProof="0" dirty="0"/>
              <a:t> funkcije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Funkcije koje obično primjenjuju neki od </a:t>
            </a:r>
            <a:r>
              <a:rPr lang="sr-Latn-BA" sz="1400" noProof="0" dirty="0" err="1"/>
              <a:t>device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and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conquer</a:t>
            </a:r>
            <a:r>
              <a:rPr lang="sr-Latn-BA" sz="1400" noProof="0" dirty="0"/>
              <a:t> algoritama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Zahtijevaju dubok </a:t>
            </a:r>
            <a:r>
              <a:rPr lang="sr-Latn-BA" sz="1400" noProof="0" dirty="0" err="1"/>
              <a:t>stek</a:t>
            </a:r>
            <a:endParaRPr lang="sr-Latn-BA" sz="1400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Obično imaju slabe performanse na ugrađenim platforma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Najčešće nisu ni dozvoljene u slučaju životno pouzdanih sistema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Svaki </a:t>
            </a:r>
            <a:r>
              <a:rPr lang="sr-Latn-BA" sz="1400" noProof="0" dirty="0" err="1"/>
              <a:t>rekurzivni</a:t>
            </a:r>
            <a:r>
              <a:rPr lang="sr-Latn-BA" sz="1400" noProof="0" dirty="0"/>
              <a:t> algoritam je moguće prepraviti u iterativni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18EB1-3FFF-B77A-D19B-ADCFC34CB2F0}"/>
              </a:ext>
            </a:extLst>
          </p:cNvPr>
          <p:cNvSpPr txBox="1"/>
          <p:nvPr/>
        </p:nvSpPr>
        <p:spPr>
          <a:xfrm>
            <a:off x="5460762" y="1584478"/>
            <a:ext cx="62726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BA" noProof="0" dirty="0" err="1">
                <a:solidFill>
                  <a:srgbClr val="434343"/>
                </a:solidFill>
              </a:rPr>
              <a:t>int</a:t>
            </a:r>
            <a:r>
              <a:rPr lang="sr-Latn-BA" noProof="0" dirty="0">
                <a:solidFill>
                  <a:srgbClr val="434343"/>
                </a:solidFill>
              </a:rPr>
              <a:t> </a:t>
            </a:r>
            <a:r>
              <a:rPr lang="sr-Latn-BA" noProof="0" dirty="0" err="1">
                <a:solidFill>
                  <a:srgbClr val="434343"/>
                </a:solidFill>
              </a:rPr>
              <a:t>binarySearch</a:t>
            </a:r>
            <a:r>
              <a:rPr lang="sr-Latn-BA" noProof="0" dirty="0">
                <a:solidFill>
                  <a:srgbClr val="434343"/>
                </a:solidFill>
              </a:rPr>
              <a:t>(</a:t>
            </a:r>
            <a:r>
              <a:rPr lang="sr-Latn-BA" noProof="0" dirty="0" err="1">
                <a:solidFill>
                  <a:srgbClr val="434343"/>
                </a:solidFill>
              </a:rPr>
              <a:t>int</a:t>
            </a:r>
            <a:r>
              <a:rPr lang="sr-Latn-BA" noProof="0" dirty="0">
                <a:solidFill>
                  <a:srgbClr val="434343"/>
                </a:solidFill>
              </a:rPr>
              <a:t> </a:t>
            </a:r>
            <a:r>
              <a:rPr lang="sr-Latn-BA" noProof="0" dirty="0" err="1">
                <a:solidFill>
                  <a:srgbClr val="434343"/>
                </a:solidFill>
              </a:rPr>
              <a:t>arr</a:t>
            </a:r>
            <a:r>
              <a:rPr lang="sr-Latn-BA" noProof="0" dirty="0">
                <a:solidFill>
                  <a:srgbClr val="434343"/>
                </a:solidFill>
              </a:rPr>
              <a:t>[], </a:t>
            </a:r>
            <a:r>
              <a:rPr lang="sr-Latn-BA" noProof="0" dirty="0" err="1">
                <a:solidFill>
                  <a:srgbClr val="434343"/>
                </a:solidFill>
              </a:rPr>
              <a:t>int</a:t>
            </a:r>
            <a:r>
              <a:rPr lang="sr-Latn-BA" noProof="0" dirty="0">
                <a:solidFill>
                  <a:srgbClr val="434343"/>
                </a:solidFill>
              </a:rPr>
              <a:t> l, </a:t>
            </a:r>
            <a:r>
              <a:rPr lang="sr-Latn-BA" noProof="0" dirty="0" err="1">
                <a:solidFill>
                  <a:srgbClr val="434343"/>
                </a:solidFill>
              </a:rPr>
              <a:t>int</a:t>
            </a:r>
            <a:r>
              <a:rPr lang="sr-Latn-BA" noProof="0" dirty="0">
                <a:solidFill>
                  <a:srgbClr val="434343"/>
                </a:solidFill>
              </a:rPr>
              <a:t> r, </a:t>
            </a:r>
            <a:r>
              <a:rPr lang="sr-Latn-BA" noProof="0" dirty="0" err="1">
                <a:solidFill>
                  <a:srgbClr val="434343"/>
                </a:solidFill>
              </a:rPr>
              <a:t>int</a:t>
            </a:r>
            <a:r>
              <a:rPr lang="sr-Latn-BA" noProof="0" dirty="0">
                <a:solidFill>
                  <a:srgbClr val="434343"/>
                </a:solidFill>
              </a:rPr>
              <a:t> x)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{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</a:t>
            </a:r>
            <a:r>
              <a:rPr lang="sr-Latn-BA" noProof="0" dirty="0" err="1">
                <a:solidFill>
                  <a:srgbClr val="434343"/>
                </a:solidFill>
              </a:rPr>
              <a:t>if</a:t>
            </a:r>
            <a:r>
              <a:rPr lang="sr-Latn-BA" noProof="0" dirty="0">
                <a:solidFill>
                  <a:srgbClr val="434343"/>
                </a:solidFill>
              </a:rPr>
              <a:t> (r &gt;= l)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{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    </a:t>
            </a:r>
            <a:r>
              <a:rPr lang="sr-Latn-BA" noProof="0" dirty="0" err="1">
                <a:solidFill>
                  <a:srgbClr val="434343"/>
                </a:solidFill>
              </a:rPr>
              <a:t>int</a:t>
            </a:r>
            <a:r>
              <a:rPr lang="sr-Latn-BA" noProof="0" dirty="0">
                <a:solidFill>
                  <a:srgbClr val="434343"/>
                </a:solidFill>
              </a:rPr>
              <a:t> </a:t>
            </a:r>
            <a:r>
              <a:rPr lang="sr-Latn-BA" noProof="0" dirty="0" err="1">
                <a:solidFill>
                  <a:srgbClr val="434343"/>
                </a:solidFill>
              </a:rPr>
              <a:t>mid</a:t>
            </a:r>
            <a:r>
              <a:rPr lang="sr-Latn-BA" noProof="0" dirty="0">
                <a:solidFill>
                  <a:srgbClr val="434343"/>
                </a:solidFill>
              </a:rPr>
              <a:t> = l + (r - l) / 2;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    </a:t>
            </a:r>
            <a:r>
              <a:rPr lang="sr-Latn-BA" noProof="0" dirty="0" err="1">
                <a:solidFill>
                  <a:srgbClr val="434343"/>
                </a:solidFill>
              </a:rPr>
              <a:t>if</a:t>
            </a:r>
            <a:r>
              <a:rPr lang="sr-Latn-BA" noProof="0" dirty="0">
                <a:solidFill>
                  <a:srgbClr val="434343"/>
                </a:solidFill>
              </a:rPr>
              <a:t> (</a:t>
            </a:r>
            <a:r>
              <a:rPr lang="sr-Latn-BA" noProof="0" dirty="0" err="1">
                <a:solidFill>
                  <a:srgbClr val="434343"/>
                </a:solidFill>
              </a:rPr>
              <a:t>arr</a:t>
            </a:r>
            <a:r>
              <a:rPr lang="sr-Latn-BA" noProof="0" dirty="0">
                <a:solidFill>
                  <a:srgbClr val="434343"/>
                </a:solidFill>
              </a:rPr>
              <a:t>[</a:t>
            </a:r>
            <a:r>
              <a:rPr lang="sr-Latn-BA" noProof="0" dirty="0" err="1">
                <a:solidFill>
                  <a:srgbClr val="434343"/>
                </a:solidFill>
              </a:rPr>
              <a:t>mid</a:t>
            </a:r>
            <a:r>
              <a:rPr lang="sr-Latn-BA" noProof="0" dirty="0">
                <a:solidFill>
                  <a:srgbClr val="434343"/>
                </a:solidFill>
              </a:rPr>
              <a:t>] == x)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        </a:t>
            </a:r>
            <a:r>
              <a:rPr lang="sr-Latn-BA" noProof="0" dirty="0" err="1">
                <a:solidFill>
                  <a:srgbClr val="434343"/>
                </a:solidFill>
              </a:rPr>
              <a:t>return</a:t>
            </a:r>
            <a:r>
              <a:rPr lang="sr-Latn-BA" noProof="0" dirty="0">
                <a:solidFill>
                  <a:srgbClr val="434343"/>
                </a:solidFill>
              </a:rPr>
              <a:t> </a:t>
            </a:r>
            <a:r>
              <a:rPr lang="sr-Latn-BA" noProof="0" dirty="0" err="1">
                <a:solidFill>
                  <a:srgbClr val="434343"/>
                </a:solidFill>
              </a:rPr>
              <a:t>mid</a:t>
            </a:r>
            <a:r>
              <a:rPr lang="sr-Latn-BA" noProof="0" dirty="0">
                <a:solidFill>
                  <a:srgbClr val="434343"/>
                </a:solidFill>
              </a:rPr>
              <a:t>;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    </a:t>
            </a:r>
            <a:r>
              <a:rPr lang="sr-Latn-BA" noProof="0" dirty="0" err="1">
                <a:solidFill>
                  <a:srgbClr val="434343"/>
                </a:solidFill>
              </a:rPr>
              <a:t>if</a:t>
            </a:r>
            <a:r>
              <a:rPr lang="sr-Latn-BA" noProof="0" dirty="0">
                <a:solidFill>
                  <a:srgbClr val="434343"/>
                </a:solidFill>
              </a:rPr>
              <a:t> (</a:t>
            </a:r>
            <a:r>
              <a:rPr lang="sr-Latn-BA" noProof="0" dirty="0" err="1">
                <a:solidFill>
                  <a:srgbClr val="434343"/>
                </a:solidFill>
              </a:rPr>
              <a:t>arr</a:t>
            </a:r>
            <a:r>
              <a:rPr lang="sr-Latn-BA" noProof="0" dirty="0">
                <a:solidFill>
                  <a:srgbClr val="434343"/>
                </a:solidFill>
              </a:rPr>
              <a:t>[</a:t>
            </a:r>
            <a:r>
              <a:rPr lang="sr-Latn-BA" noProof="0" dirty="0" err="1">
                <a:solidFill>
                  <a:srgbClr val="434343"/>
                </a:solidFill>
              </a:rPr>
              <a:t>mid</a:t>
            </a:r>
            <a:r>
              <a:rPr lang="sr-Latn-BA" noProof="0" dirty="0">
                <a:solidFill>
                  <a:srgbClr val="434343"/>
                </a:solidFill>
              </a:rPr>
              <a:t>] &gt; x)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        </a:t>
            </a:r>
            <a:r>
              <a:rPr lang="sr-Latn-BA" noProof="0" dirty="0" err="1">
                <a:solidFill>
                  <a:srgbClr val="434343"/>
                </a:solidFill>
              </a:rPr>
              <a:t>return</a:t>
            </a:r>
            <a:r>
              <a:rPr lang="sr-Latn-BA" noProof="0" dirty="0">
                <a:solidFill>
                  <a:srgbClr val="434343"/>
                </a:solidFill>
              </a:rPr>
              <a:t> </a:t>
            </a:r>
            <a:r>
              <a:rPr lang="sr-Latn-BA" noProof="0" dirty="0" err="1">
                <a:solidFill>
                  <a:srgbClr val="434343"/>
                </a:solidFill>
              </a:rPr>
              <a:t>binarySearch</a:t>
            </a:r>
            <a:r>
              <a:rPr lang="sr-Latn-BA" noProof="0" dirty="0">
                <a:solidFill>
                  <a:srgbClr val="434343"/>
                </a:solidFill>
              </a:rPr>
              <a:t>(</a:t>
            </a:r>
            <a:r>
              <a:rPr lang="sr-Latn-BA" noProof="0" dirty="0" err="1">
                <a:solidFill>
                  <a:srgbClr val="434343"/>
                </a:solidFill>
              </a:rPr>
              <a:t>arr</a:t>
            </a:r>
            <a:r>
              <a:rPr lang="sr-Latn-BA" noProof="0" dirty="0">
                <a:solidFill>
                  <a:srgbClr val="434343"/>
                </a:solidFill>
              </a:rPr>
              <a:t>, l, </a:t>
            </a:r>
            <a:r>
              <a:rPr lang="sr-Latn-BA" noProof="0" dirty="0" err="1">
                <a:solidFill>
                  <a:srgbClr val="434343"/>
                </a:solidFill>
              </a:rPr>
              <a:t>mid</a:t>
            </a:r>
            <a:r>
              <a:rPr lang="sr-Latn-BA" noProof="0" dirty="0">
                <a:solidFill>
                  <a:srgbClr val="434343"/>
                </a:solidFill>
              </a:rPr>
              <a:t> - 1, x);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    </a:t>
            </a:r>
            <a:r>
              <a:rPr lang="sr-Latn-BA" noProof="0" dirty="0" err="1">
                <a:solidFill>
                  <a:srgbClr val="434343"/>
                </a:solidFill>
              </a:rPr>
              <a:t>return</a:t>
            </a:r>
            <a:r>
              <a:rPr lang="sr-Latn-BA" noProof="0" dirty="0">
                <a:solidFill>
                  <a:srgbClr val="434343"/>
                </a:solidFill>
              </a:rPr>
              <a:t> </a:t>
            </a:r>
            <a:r>
              <a:rPr lang="sr-Latn-BA" noProof="0" dirty="0" err="1">
                <a:solidFill>
                  <a:srgbClr val="434343"/>
                </a:solidFill>
              </a:rPr>
              <a:t>binarySearch</a:t>
            </a:r>
            <a:r>
              <a:rPr lang="sr-Latn-BA" noProof="0" dirty="0">
                <a:solidFill>
                  <a:srgbClr val="434343"/>
                </a:solidFill>
              </a:rPr>
              <a:t>(</a:t>
            </a:r>
            <a:r>
              <a:rPr lang="sr-Latn-BA" noProof="0" dirty="0" err="1">
                <a:solidFill>
                  <a:srgbClr val="434343"/>
                </a:solidFill>
              </a:rPr>
              <a:t>arr</a:t>
            </a:r>
            <a:r>
              <a:rPr lang="sr-Latn-BA" noProof="0" dirty="0">
                <a:solidFill>
                  <a:srgbClr val="434343"/>
                </a:solidFill>
              </a:rPr>
              <a:t>, </a:t>
            </a:r>
            <a:r>
              <a:rPr lang="sr-Latn-BA" noProof="0" dirty="0" err="1">
                <a:solidFill>
                  <a:srgbClr val="434343"/>
                </a:solidFill>
              </a:rPr>
              <a:t>mid</a:t>
            </a:r>
            <a:r>
              <a:rPr lang="sr-Latn-BA" noProof="0" dirty="0">
                <a:solidFill>
                  <a:srgbClr val="434343"/>
                </a:solidFill>
              </a:rPr>
              <a:t> + 1, r, x);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}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    </a:t>
            </a:r>
            <a:r>
              <a:rPr lang="sr-Latn-BA" noProof="0" dirty="0" err="1">
                <a:solidFill>
                  <a:srgbClr val="434343"/>
                </a:solidFill>
              </a:rPr>
              <a:t>return</a:t>
            </a:r>
            <a:r>
              <a:rPr lang="sr-Latn-BA" noProof="0" dirty="0">
                <a:solidFill>
                  <a:srgbClr val="434343"/>
                </a:solidFill>
              </a:rPr>
              <a:t> -1;</a:t>
            </a:r>
            <a:br>
              <a:rPr lang="sr-Latn-BA" noProof="0" dirty="0">
                <a:solidFill>
                  <a:srgbClr val="434343"/>
                </a:solidFill>
              </a:rPr>
            </a:br>
            <a:r>
              <a:rPr lang="sr-Latn-BA" noProof="0" dirty="0">
                <a:solidFill>
                  <a:srgbClr val="434343"/>
                </a:solidFill>
              </a:rPr>
              <a:t>}</a:t>
            </a:r>
            <a:endParaRPr lang="sr-Latn-BA" noProof="0" dirty="0"/>
          </a:p>
        </p:txBody>
      </p:sp>
    </p:spTree>
    <p:extLst>
      <p:ext uri="{BB962C8B-B14F-4D97-AF65-F5344CB8AC3E}">
        <p14:creationId xmlns:p14="http://schemas.microsoft.com/office/powerpoint/2010/main" val="590502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F59E-249D-EF72-B1EF-F58FF7C3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noProof="0" dirty="0"/>
              <a:t>Napredni koncepti C jezika</a:t>
            </a:r>
          </a:p>
        </p:txBody>
      </p:sp>
      <p:pic>
        <p:nvPicPr>
          <p:cNvPr id="5" name="Picture Placeholder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C71CFE8A-239B-75A8-250F-39A802A93F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3" b="204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56500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Ugrađeni asembler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Sintaksa GCC asemblerskog iskaza</a:t>
            </a:r>
            <a:endParaRPr lang="sr-Latn-BA" sz="2000" noProof="0" dirty="0"/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600" noProof="0" dirty="0"/>
              <a:t>	</a:t>
            </a:r>
            <a:r>
              <a:rPr lang="sr-Latn-BA" sz="1600" noProof="0" dirty="0" err="1"/>
              <a:t>asm</a:t>
            </a:r>
            <a:r>
              <a:rPr lang="sr-Latn-BA" sz="1600" noProof="0" dirty="0"/>
              <a:t> [</a:t>
            </a:r>
            <a:r>
              <a:rPr lang="sr-Latn-BA" sz="1600" noProof="0" dirty="0" err="1"/>
              <a:t>volatile</a:t>
            </a:r>
            <a:r>
              <a:rPr lang="sr-Latn-BA" sz="1600" noProof="0" dirty="0"/>
              <a:t>] ( </a:t>
            </a:r>
            <a:r>
              <a:rPr lang="sr-Latn-BA" sz="1600" noProof="0" dirty="0" err="1"/>
              <a:t>assembler_template</a:t>
            </a:r>
            <a:r>
              <a:rPr lang="sr-Latn-BA" sz="1600" noProof="0" dirty="0"/>
              <a:t> </a:t>
            </a:r>
            <a:br>
              <a:rPr lang="sr-Latn-BA" sz="1600" noProof="0" dirty="0"/>
            </a:br>
            <a:r>
              <a:rPr lang="sr-Latn-BA" sz="1600" noProof="0" dirty="0"/>
              <a:t>			: </a:t>
            </a:r>
            <a:r>
              <a:rPr lang="sr-Latn-BA" sz="1600" noProof="0" dirty="0" err="1"/>
              <a:t>output_operands</a:t>
            </a:r>
            <a:r>
              <a:rPr lang="sr-Latn-BA" sz="1600" noProof="0" dirty="0"/>
              <a:t> /* </a:t>
            </a:r>
            <a:r>
              <a:rPr lang="sr-Latn-BA" sz="1600" noProof="0" dirty="0" err="1"/>
              <a:t>optional</a:t>
            </a:r>
            <a:r>
              <a:rPr lang="sr-Latn-BA" sz="1600" noProof="0" dirty="0"/>
              <a:t> */ </a:t>
            </a:r>
            <a:br>
              <a:rPr lang="sr-Latn-BA" sz="1600" noProof="0" dirty="0"/>
            </a:br>
            <a:r>
              <a:rPr lang="sr-Latn-BA" sz="1600" noProof="0" dirty="0"/>
              <a:t>			: </a:t>
            </a:r>
            <a:r>
              <a:rPr lang="sr-Latn-BA" sz="1600" noProof="0" dirty="0" err="1"/>
              <a:t>input_operands</a:t>
            </a:r>
            <a:r>
              <a:rPr lang="sr-Latn-BA" sz="1600" noProof="0" dirty="0"/>
              <a:t> /* </a:t>
            </a:r>
            <a:r>
              <a:rPr lang="sr-Latn-BA" sz="1600" noProof="0" dirty="0" err="1"/>
              <a:t>optional</a:t>
            </a:r>
            <a:r>
              <a:rPr lang="sr-Latn-BA" sz="1600" noProof="0" dirty="0"/>
              <a:t> */</a:t>
            </a:r>
            <a:br>
              <a:rPr lang="sr-Latn-BA" sz="1600" noProof="0" dirty="0"/>
            </a:br>
            <a:r>
              <a:rPr lang="sr-Latn-BA" sz="1600" noProof="0" dirty="0"/>
              <a:t>			: </a:t>
            </a:r>
            <a:r>
              <a:rPr lang="sr-Latn-BA" sz="1600" noProof="0" dirty="0" err="1"/>
              <a:t>clobbered_registers</a:t>
            </a:r>
            <a:r>
              <a:rPr lang="sr-Latn-BA" sz="1600" noProof="0" dirty="0"/>
              <a:t> /* </a:t>
            </a:r>
            <a:r>
              <a:rPr lang="sr-Latn-BA" sz="1600" noProof="0" dirty="0" err="1"/>
              <a:t>optional</a:t>
            </a:r>
            <a:r>
              <a:rPr lang="sr-Latn-BA" sz="1600" noProof="0" dirty="0"/>
              <a:t> */ );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endParaRPr lang="sr-Latn-BA" sz="1600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assembler_template</a:t>
            </a:r>
            <a:r>
              <a:rPr lang="sr-Latn-BA" sz="1400" noProof="0" dirty="0"/>
              <a:t> – znakovni niz sa asemblerskim kodom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output_operands</a:t>
            </a:r>
            <a:r>
              <a:rPr lang="sr-Latn-BA" sz="1400" noProof="0" dirty="0"/>
              <a:t>  - C </a:t>
            </a:r>
            <a:r>
              <a:rPr lang="sr-Latn-BA" sz="1400" noProof="0" dirty="0" err="1"/>
              <a:t>operandi</a:t>
            </a:r>
            <a:r>
              <a:rPr lang="sr-Latn-BA" sz="1400" noProof="0" dirty="0"/>
              <a:t> koji će biti promijenjeni kada se </a:t>
            </a:r>
            <a:r>
              <a:rPr lang="sr-Latn-BA" sz="1400" noProof="0" dirty="0" err="1"/>
              <a:t>asm</a:t>
            </a:r>
            <a:r>
              <a:rPr lang="sr-Latn-BA" sz="1400" noProof="0" dirty="0"/>
              <a:t> kod izvrši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input_operands</a:t>
            </a:r>
            <a:r>
              <a:rPr lang="sr-Latn-BA" sz="1400" noProof="0" dirty="0"/>
              <a:t> – C </a:t>
            </a:r>
            <a:r>
              <a:rPr lang="sr-Latn-BA" sz="1400" noProof="0" dirty="0" err="1"/>
              <a:t>operandi</a:t>
            </a:r>
            <a:r>
              <a:rPr lang="sr-Latn-BA" sz="1400" noProof="0" dirty="0"/>
              <a:t> čije vrijednosti se koriste pri izvršavanju </a:t>
            </a:r>
            <a:r>
              <a:rPr lang="sr-Latn-BA" sz="1400" noProof="0" dirty="0" err="1"/>
              <a:t>asm</a:t>
            </a:r>
            <a:r>
              <a:rPr lang="sr-Latn-BA" sz="1400" noProof="0" dirty="0"/>
              <a:t> koda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 err="1"/>
              <a:t>clobbered_registers</a:t>
            </a:r>
            <a:r>
              <a:rPr lang="sr-Latn-BA" sz="1400" noProof="0" dirty="0"/>
              <a:t> – registri čije vrijednosti </a:t>
            </a:r>
            <a:r>
              <a:rPr lang="sr-Latn-BA" sz="1400" noProof="0" dirty="0" err="1"/>
              <a:t>asm</a:t>
            </a:r>
            <a:r>
              <a:rPr lang="sr-Latn-BA" sz="1400" noProof="0" dirty="0"/>
              <a:t> kod eksplicitno mijenja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endParaRPr lang="sr-Latn-BA" sz="1600" noProof="0" dirty="0"/>
          </a:p>
        </p:txBody>
      </p:sp>
    </p:spTree>
    <p:extLst>
      <p:ext uri="{BB962C8B-B14F-4D97-AF65-F5344CB8AC3E}">
        <p14:creationId xmlns:p14="http://schemas.microsoft.com/office/powerpoint/2010/main" val="2731983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3862243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Ugrađeni asembler</a:t>
            </a:r>
          </a:p>
          <a:p>
            <a:pPr marL="0" indent="0">
              <a:buNone/>
            </a:pPr>
            <a:endParaRPr lang="sr-Latn-BA" noProof="0" dirty="0"/>
          </a:p>
          <a:p>
            <a:pPr marL="0" indent="0">
              <a:buNone/>
            </a:pPr>
            <a:endParaRPr lang="sr-Latn-BA" sz="1600" noProof="0" dirty="0">
              <a:latin typeface="+mn-lt"/>
            </a:endParaRP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#include &lt;</a:t>
            </a:r>
            <a:r>
              <a:rPr lang="sr-Latn-BA" sz="1800" noProof="0" dirty="0" err="1">
                <a:latin typeface="+mn-lt"/>
              </a:rPr>
              <a:t>stdio.h</a:t>
            </a:r>
            <a:r>
              <a:rPr lang="sr-Latn-BA" sz="1800" noProof="0" dirty="0">
                <a:latin typeface="+mn-lt"/>
              </a:rPr>
              <a:t>&gt;</a:t>
            </a:r>
          </a:p>
          <a:p>
            <a:pPr marL="0" indent="0">
              <a:buNone/>
            </a:pPr>
            <a:endParaRPr lang="sr-Latn-BA" sz="1800" noProof="0" dirty="0">
              <a:latin typeface="+mn-lt"/>
            </a:endParaRPr>
          </a:p>
          <a:p>
            <a:pPr marL="0" indent="0">
              <a:buNone/>
            </a:pPr>
            <a:r>
              <a:rPr lang="sr-Latn-BA" sz="1800" noProof="0" dirty="0" err="1">
                <a:latin typeface="+mn-lt"/>
              </a:rPr>
              <a:t>int</a:t>
            </a:r>
            <a:r>
              <a:rPr lang="sr-Latn-BA" sz="1800" noProof="0" dirty="0">
                <a:latin typeface="+mn-lt"/>
              </a:rPr>
              <a:t> </a:t>
            </a:r>
            <a:r>
              <a:rPr lang="sr-Latn-BA" sz="1800" noProof="0" dirty="0" err="1">
                <a:latin typeface="+mn-lt"/>
              </a:rPr>
              <a:t>func</a:t>
            </a:r>
            <a:r>
              <a:rPr lang="sr-Latn-BA" sz="1800" noProof="0" dirty="0">
                <a:latin typeface="+mn-lt"/>
              </a:rPr>
              <a:t>(</a:t>
            </a:r>
            <a:r>
              <a:rPr lang="sr-Latn-BA" sz="1800" noProof="0" dirty="0" err="1">
                <a:latin typeface="+mn-lt"/>
              </a:rPr>
              <a:t>int</a:t>
            </a:r>
            <a:r>
              <a:rPr lang="sr-Latn-BA" sz="1800" noProof="0" dirty="0">
                <a:latin typeface="+mn-lt"/>
              </a:rPr>
              <a:t> in) {</a:t>
            </a: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</a:t>
            </a:r>
            <a:r>
              <a:rPr lang="sr-Latn-BA" sz="1800" noProof="0" dirty="0" err="1">
                <a:latin typeface="+mn-lt"/>
              </a:rPr>
              <a:t>int</a:t>
            </a:r>
            <a:r>
              <a:rPr lang="sr-Latn-BA" sz="1800" noProof="0" dirty="0">
                <a:latin typeface="+mn-lt"/>
              </a:rPr>
              <a:t> </a:t>
            </a:r>
            <a:r>
              <a:rPr lang="sr-Latn-BA" sz="1800" noProof="0" dirty="0" err="1">
                <a:latin typeface="+mn-lt"/>
              </a:rPr>
              <a:t>res</a:t>
            </a:r>
            <a:r>
              <a:rPr lang="sr-Latn-BA" sz="1800" noProof="0" dirty="0">
                <a:latin typeface="+mn-lt"/>
              </a:rPr>
              <a:t>;</a:t>
            </a:r>
            <a:endParaRPr lang="en-US" sz="1800" noProof="0" dirty="0">
              <a:latin typeface="+mn-lt"/>
            </a:endParaRPr>
          </a:p>
          <a:p>
            <a:pPr marL="0" indent="0">
              <a:buNone/>
            </a:pPr>
            <a:endParaRPr lang="sr-Latn-BA" sz="1800" noProof="0" dirty="0">
              <a:latin typeface="+mn-lt"/>
            </a:endParaRP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</a:t>
            </a:r>
            <a:r>
              <a:rPr lang="sr-Latn-BA" sz="1800" noProof="0" dirty="0" err="1">
                <a:latin typeface="+mn-lt"/>
              </a:rPr>
              <a:t>asm</a:t>
            </a:r>
            <a:r>
              <a:rPr lang="sr-Latn-BA" sz="1800" noProof="0" dirty="0">
                <a:latin typeface="+mn-lt"/>
              </a:rPr>
              <a:t> (</a:t>
            </a: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    "</a:t>
            </a:r>
            <a:r>
              <a:rPr lang="sr-Latn-BA" sz="1800" noProof="0" dirty="0" err="1">
                <a:latin typeface="+mn-lt"/>
              </a:rPr>
              <a:t>movl</a:t>
            </a:r>
            <a:r>
              <a:rPr lang="sr-Latn-BA" sz="1800" noProof="0" dirty="0">
                <a:latin typeface="+mn-lt"/>
              </a:rPr>
              <a:t> %1, %%</a:t>
            </a:r>
            <a:r>
              <a:rPr lang="sr-Latn-BA" sz="1800" noProof="0" dirty="0" err="1">
                <a:latin typeface="+mn-lt"/>
              </a:rPr>
              <a:t>eax</a:t>
            </a:r>
            <a:r>
              <a:rPr lang="sr-Latn-BA" sz="1800" noProof="0" dirty="0">
                <a:latin typeface="+mn-lt"/>
              </a:rPr>
              <a:t>; \n\t„</a:t>
            </a: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    "</a:t>
            </a:r>
            <a:r>
              <a:rPr lang="sr-Latn-BA" sz="1800" noProof="0" dirty="0" err="1">
                <a:latin typeface="+mn-lt"/>
              </a:rPr>
              <a:t>add</a:t>
            </a:r>
            <a:r>
              <a:rPr lang="sr-Latn-BA" sz="1800" noProof="0" dirty="0">
                <a:latin typeface="+mn-lt"/>
              </a:rPr>
              <a:t> $1, %%</a:t>
            </a:r>
            <a:r>
              <a:rPr lang="sr-Latn-BA" sz="1800" noProof="0" dirty="0" err="1">
                <a:latin typeface="+mn-lt"/>
              </a:rPr>
              <a:t>eax</a:t>
            </a:r>
            <a:r>
              <a:rPr lang="sr-Latn-BA" sz="1800" noProof="0" dirty="0">
                <a:latin typeface="+mn-lt"/>
              </a:rPr>
              <a:t>; \n\t„</a:t>
            </a: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    "</a:t>
            </a:r>
            <a:r>
              <a:rPr lang="sr-Latn-BA" sz="1800" noProof="0" dirty="0" err="1">
                <a:latin typeface="+mn-lt"/>
              </a:rPr>
              <a:t>movl</a:t>
            </a:r>
            <a:r>
              <a:rPr lang="sr-Latn-BA" sz="1800" noProof="0" dirty="0">
                <a:latin typeface="+mn-lt"/>
              </a:rPr>
              <a:t> %%</a:t>
            </a:r>
            <a:r>
              <a:rPr lang="sr-Latn-BA" sz="1800" noProof="0" dirty="0" err="1">
                <a:latin typeface="+mn-lt"/>
              </a:rPr>
              <a:t>eax</a:t>
            </a:r>
            <a:r>
              <a:rPr lang="sr-Latn-BA" sz="1800" noProof="0" dirty="0">
                <a:latin typeface="+mn-lt"/>
              </a:rPr>
              <a:t>, %0;„</a:t>
            </a:r>
          </a:p>
          <a:p>
            <a:pPr marL="0" indent="0">
              <a:buNone/>
            </a:pPr>
            <a:endParaRPr lang="sr-Latn-BA" sz="1800" noProof="0" dirty="0">
              <a:latin typeface="+mn-lt"/>
            </a:endParaRP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    : "=r"(</a:t>
            </a:r>
            <a:r>
              <a:rPr lang="sr-Latn-BA" sz="1800" noProof="0" dirty="0" err="1">
                <a:latin typeface="+mn-lt"/>
              </a:rPr>
              <a:t>res</a:t>
            </a:r>
            <a:r>
              <a:rPr lang="sr-Latn-BA" sz="1800" noProof="0" dirty="0">
                <a:latin typeface="+mn-lt"/>
              </a:rPr>
              <a:t>) // </a:t>
            </a:r>
            <a:r>
              <a:rPr lang="sr-Latn-BA" sz="1800" noProof="0" dirty="0" err="1">
                <a:latin typeface="+mn-lt"/>
              </a:rPr>
              <a:t>output</a:t>
            </a:r>
            <a:endParaRPr lang="sr-Latn-BA" sz="1800" noProof="0" dirty="0">
              <a:latin typeface="+mn-lt"/>
            </a:endParaRP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    : "r"(in) // input</a:t>
            </a: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    : "%</a:t>
            </a:r>
            <a:r>
              <a:rPr lang="sr-Latn-BA" sz="1800" noProof="0" dirty="0" err="1">
                <a:latin typeface="+mn-lt"/>
              </a:rPr>
              <a:t>eax</a:t>
            </a:r>
            <a:r>
              <a:rPr lang="sr-Latn-BA" sz="1800" noProof="0" dirty="0">
                <a:latin typeface="+mn-lt"/>
              </a:rPr>
              <a:t>"</a:t>
            </a: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);</a:t>
            </a:r>
            <a:endParaRPr lang="en-US" sz="1800" noProof="0" dirty="0">
              <a:latin typeface="+mn-lt"/>
            </a:endParaRPr>
          </a:p>
          <a:p>
            <a:pPr marL="0" indent="0">
              <a:buNone/>
            </a:pPr>
            <a:endParaRPr lang="sr-Latn-BA" sz="1800" noProof="0" dirty="0">
              <a:latin typeface="+mn-lt"/>
            </a:endParaRP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    </a:t>
            </a:r>
            <a:r>
              <a:rPr lang="sr-Latn-BA" sz="1800" noProof="0" dirty="0" err="1">
                <a:latin typeface="+mn-lt"/>
              </a:rPr>
              <a:t>return</a:t>
            </a:r>
            <a:r>
              <a:rPr lang="sr-Latn-BA" sz="1800" noProof="0" dirty="0">
                <a:latin typeface="+mn-lt"/>
              </a:rPr>
              <a:t> </a:t>
            </a:r>
            <a:r>
              <a:rPr lang="sr-Latn-BA" sz="1800" noProof="0" dirty="0" err="1">
                <a:latin typeface="+mn-lt"/>
              </a:rPr>
              <a:t>res</a:t>
            </a:r>
            <a:r>
              <a:rPr lang="sr-Latn-BA" sz="1800" noProof="0" dirty="0"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sr-Latn-BA" sz="1800" noProof="0" dirty="0">
                <a:latin typeface="+mn-lt"/>
              </a:rPr>
              <a:t>}</a:t>
            </a:r>
          </a:p>
          <a:p>
            <a:pPr marL="0" indent="0">
              <a:buNone/>
            </a:pPr>
            <a:endParaRPr lang="sr-Latn-BA" sz="1400" noProof="0" dirty="0"/>
          </a:p>
          <a:p>
            <a:pPr marL="0" indent="0">
              <a:buNone/>
            </a:pPr>
            <a:endParaRPr lang="sr-Latn-BA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9FAD0-0688-43DE-2E3C-BB1AB505ACDF}"/>
              </a:ext>
            </a:extLst>
          </p:cNvPr>
          <p:cNvSpPr txBox="1"/>
          <p:nvPr/>
        </p:nvSpPr>
        <p:spPr>
          <a:xfrm>
            <a:off x="6096000" y="2179782"/>
            <a:ext cx="362791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dirty="0" err="1"/>
              <a:t>int</a:t>
            </a:r>
            <a:r>
              <a:rPr lang="sr-Latn-BA" dirty="0"/>
              <a:t> </a:t>
            </a:r>
            <a:r>
              <a:rPr lang="sr-Latn-BA" dirty="0" err="1"/>
              <a:t>main</a:t>
            </a:r>
            <a:r>
              <a:rPr lang="sr-Latn-BA" dirty="0"/>
              <a:t>() {</a:t>
            </a:r>
          </a:p>
          <a:p>
            <a:r>
              <a:rPr lang="sr-Latn-BA" dirty="0"/>
              <a:t>    </a:t>
            </a:r>
            <a:r>
              <a:rPr lang="sr-Latn-BA" dirty="0" err="1"/>
              <a:t>int</a:t>
            </a:r>
            <a:r>
              <a:rPr lang="sr-Latn-BA" dirty="0"/>
              <a:t> </a:t>
            </a:r>
            <a:r>
              <a:rPr lang="sr-Latn-BA" dirty="0" err="1"/>
              <a:t>value</a:t>
            </a:r>
            <a:r>
              <a:rPr lang="sr-Latn-BA" dirty="0"/>
              <a:t> = 15;</a:t>
            </a:r>
            <a:endParaRPr lang="en-US" dirty="0"/>
          </a:p>
          <a:p>
            <a:endParaRPr lang="sr-Latn-BA" dirty="0"/>
          </a:p>
          <a:p>
            <a:r>
              <a:rPr lang="sr-Latn-BA" dirty="0"/>
              <a:t>    </a:t>
            </a:r>
            <a:r>
              <a:rPr lang="sr-Latn-BA" dirty="0" err="1"/>
              <a:t>int</a:t>
            </a:r>
            <a:r>
              <a:rPr lang="sr-Latn-BA" dirty="0"/>
              <a:t> </a:t>
            </a:r>
            <a:r>
              <a:rPr lang="sr-Latn-BA" dirty="0" err="1"/>
              <a:t>result</a:t>
            </a:r>
            <a:r>
              <a:rPr lang="sr-Latn-BA" dirty="0"/>
              <a:t> = </a:t>
            </a:r>
            <a:r>
              <a:rPr lang="sr-Latn-BA" dirty="0" err="1"/>
              <a:t>func</a:t>
            </a:r>
            <a:r>
              <a:rPr lang="sr-Latn-BA" dirty="0"/>
              <a:t>(</a:t>
            </a:r>
            <a:r>
              <a:rPr lang="sr-Latn-BA" dirty="0" err="1"/>
              <a:t>value</a:t>
            </a:r>
            <a:r>
              <a:rPr lang="sr-Latn-BA" dirty="0"/>
              <a:t>);</a:t>
            </a:r>
          </a:p>
          <a:p>
            <a:r>
              <a:rPr lang="sr-Latn-BA" dirty="0"/>
              <a:t>    </a:t>
            </a:r>
            <a:r>
              <a:rPr lang="sr-Latn-BA" dirty="0" err="1"/>
              <a:t>printf</a:t>
            </a:r>
            <a:r>
              <a:rPr lang="sr-Latn-BA" dirty="0"/>
              <a:t>("</a:t>
            </a:r>
            <a:r>
              <a:rPr lang="sr-Latn-BA" dirty="0" err="1"/>
              <a:t>Result</a:t>
            </a:r>
            <a:r>
              <a:rPr lang="sr-Latn-BA" dirty="0"/>
              <a:t>: %d\n", </a:t>
            </a:r>
            <a:r>
              <a:rPr lang="sr-Latn-BA" dirty="0" err="1"/>
              <a:t>result</a:t>
            </a:r>
            <a:r>
              <a:rPr lang="sr-Latn-BA" dirty="0"/>
              <a:t>);</a:t>
            </a:r>
            <a:endParaRPr lang="en-US" dirty="0"/>
          </a:p>
          <a:p>
            <a:endParaRPr lang="sr-Latn-BA" dirty="0"/>
          </a:p>
          <a:p>
            <a:r>
              <a:rPr lang="sr-Latn-BA" dirty="0"/>
              <a:t>    </a:t>
            </a:r>
            <a:r>
              <a:rPr lang="sr-Latn-BA" dirty="0" err="1"/>
              <a:t>return</a:t>
            </a:r>
            <a:r>
              <a:rPr lang="sr-Latn-BA" dirty="0"/>
              <a:t> 0;</a:t>
            </a:r>
          </a:p>
          <a:p>
            <a:r>
              <a:rPr lang="sr-Latn-BA" dirty="0"/>
              <a:t>}</a:t>
            </a:r>
          </a:p>
          <a:p>
            <a:endParaRPr lang="sr-Latn-BA" dirty="0"/>
          </a:p>
        </p:txBody>
      </p:sp>
    </p:spTree>
    <p:extLst>
      <p:ext uri="{BB962C8B-B14F-4D97-AF65-F5344CB8AC3E}">
        <p14:creationId xmlns:p14="http://schemas.microsoft.com/office/powerpoint/2010/main" val="89884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3480186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Ugrađeni asembler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U prethodnom primjeru je</a:t>
            </a:r>
          </a:p>
          <a:p>
            <a:pPr lvl="8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%n – referenca na n-ti </a:t>
            </a:r>
            <a:r>
              <a:rPr lang="sr-Latn-BA" sz="1400" noProof="0" dirty="0" err="1"/>
              <a:t>operand</a:t>
            </a:r>
            <a:r>
              <a:rPr lang="sr-Latn-BA" sz="1400" noProof="0" dirty="0"/>
              <a:t> iz listi izlaznih i ulaznih </a:t>
            </a:r>
            <a:r>
              <a:rPr lang="sr-Latn-BA" sz="1400" noProof="0" dirty="0" err="1"/>
              <a:t>operanada</a:t>
            </a:r>
            <a:r>
              <a:rPr lang="sr-Latn-BA" sz="1400" noProof="0" dirty="0"/>
              <a:t> (prvi je indeks 0)</a:t>
            </a:r>
          </a:p>
          <a:p>
            <a:pPr lvl="8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%% - referenciranje registra</a:t>
            </a:r>
          </a:p>
          <a:p>
            <a:pPr lvl="8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“</a:t>
            </a:r>
            <a:r>
              <a:rPr lang="sr-Latn-BA" sz="1400" noProof="0" dirty="0" err="1"/>
              <a:t>xy</a:t>
            </a:r>
            <a:r>
              <a:rPr lang="sr-Latn-BA" sz="1400" noProof="0" dirty="0"/>
              <a:t>” (</a:t>
            </a:r>
            <a:r>
              <a:rPr lang="sr-Latn-BA" sz="1400" noProof="0" dirty="0" err="1"/>
              <a:t>c_expression</a:t>
            </a:r>
            <a:r>
              <a:rPr lang="sr-Latn-BA" sz="1400" noProof="0" dirty="0"/>
              <a:t>) – povezuje C varijablu sa vrijednošću korištenom u asembleru</a:t>
            </a:r>
          </a:p>
          <a:p>
            <a:pPr marL="538162" lvl="8" indent="0">
              <a:lnSpc>
                <a:spcPct val="114000"/>
              </a:lnSpc>
              <a:spcAft>
                <a:spcPts val="600"/>
              </a:spcAft>
              <a:buNone/>
            </a:pPr>
            <a:endParaRPr lang="sr-Latn-BA" sz="1400" noProof="0" dirty="0"/>
          </a:p>
          <a:p>
            <a:pPr marL="538162" lvl="8" indent="0">
              <a:lnSpc>
                <a:spcPct val="114000"/>
              </a:lnSpc>
              <a:spcAft>
                <a:spcPts val="600"/>
              </a:spcAft>
              <a:buNone/>
            </a:pPr>
            <a:endParaRPr lang="sr-Latn-BA" sz="1400" noProof="0" dirty="0"/>
          </a:p>
          <a:p>
            <a:pPr lvl="8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E91CE2-2666-4C3C-7854-5DE815648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666488"/>
              </p:ext>
            </p:extLst>
          </p:nvPr>
        </p:nvGraphicFramePr>
        <p:xfrm>
          <a:off x="4569150" y="1501200"/>
          <a:ext cx="6972568" cy="31774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86284">
                  <a:extLst>
                    <a:ext uri="{9D8B030D-6E8A-4147-A177-3AD203B41FA5}">
                      <a16:colId xmlns:a16="http://schemas.microsoft.com/office/drawing/2014/main" val="2480678031"/>
                    </a:ext>
                  </a:extLst>
                </a:gridCol>
                <a:gridCol w="3486284">
                  <a:extLst>
                    <a:ext uri="{9D8B030D-6E8A-4147-A177-3AD203B41FA5}">
                      <a16:colId xmlns:a16="http://schemas.microsoft.com/office/drawing/2014/main" val="3874053371"/>
                    </a:ext>
                  </a:extLst>
                </a:gridCol>
              </a:tblGrid>
              <a:tr h="338449">
                <a:tc>
                  <a:txBody>
                    <a:bodyPr/>
                    <a:lstStyle/>
                    <a:p>
                      <a:r>
                        <a:rPr lang="sr-Latn-BA" noProof="0" dirty="0"/>
                        <a:t>Izraz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noProof="0" dirty="0"/>
                        <a:t>Značenje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612158"/>
                  </a:ext>
                </a:extLst>
              </a:tr>
              <a:tr h="324212"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a, b, c,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sz="1400" noProof="0" dirty="0" err="1"/>
                        <a:t>eax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ebx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ecx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edx</a:t>
                      </a:r>
                      <a:r>
                        <a:rPr lang="sr-Latn-BA" sz="1400" noProof="0" dirty="0"/>
                        <a:t> respektivno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29850"/>
                  </a:ext>
                </a:extLst>
              </a:tr>
              <a:tr h="338449"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S,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esi i </a:t>
                      </a:r>
                      <a:r>
                        <a:rPr lang="sr-Latn-BA" sz="1400" noProof="0" dirty="0" err="1"/>
                        <a:t>edi</a:t>
                      </a:r>
                      <a:r>
                        <a:rPr lang="sr-Latn-BA" sz="1400" noProof="0" dirty="0"/>
                        <a:t> respektivno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988993"/>
                  </a:ext>
                </a:extLst>
              </a:tr>
              <a:tr h="385172"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konstantna vrijednost (0 do 31)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768031"/>
                  </a:ext>
                </a:extLst>
              </a:tr>
              <a:tr h="499126"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BA" sz="1400" noProof="0" dirty="0"/>
                        <a:t>dinamički alociran registar: </a:t>
                      </a:r>
                      <a:r>
                        <a:rPr lang="sr-Latn-BA" sz="1400" noProof="0" dirty="0" err="1"/>
                        <a:t>eax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ebx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ecx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edx</a:t>
                      </a:r>
                      <a:endParaRPr lang="sr-Latn-BA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567518"/>
                  </a:ext>
                </a:extLst>
              </a:tr>
              <a:tr h="519351"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sz="1400" noProof="0" dirty="0" err="1"/>
                        <a:t>eax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ebx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ecx</a:t>
                      </a:r>
                      <a:r>
                        <a:rPr lang="sr-Latn-BA" sz="1400" noProof="0" dirty="0"/>
                        <a:t>, </a:t>
                      </a:r>
                      <a:r>
                        <a:rPr lang="sr-Latn-BA" sz="1400" noProof="0" dirty="0" err="1"/>
                        <a:t>edx</a:t>
                      </a:r>
                      <a:r>
                        <a:rPr lang="sr-Latn-BA" sz="1400" noProof="0" dirty="0"/>
                        <a:t> ili varijabla u memoriji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33511"/>
                  </a:ext>
                </a:extLst>
              </a:tr>
              <a:tr h="338449"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memorija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326451"/>
                  </a:ext>
                </a:extLst>
              </a:tr>
              <a:tr h="387944"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sz="1400" noProof="0" dirty="0"/>
                        <a:t>Koristi se za smještaj podataka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924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750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Ugrađeni asembler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Moguće je iz asemblerskog koda pristupati C varijablama i pozivati C funkcije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Takođe je moguće iz C zvati asemblersku funkciju, čak i kada je pisana u posebnom asemblerskom fajlu, a ne kroz ugrađeni asembler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C kompajler dekoriše imena, najčešće dodavanjem “_” ispred, što asemblerski kod treba uzeti u obzir</a:t>
            </a:r>
          </a:p>
        </p:txBody>
      </p:sp>
    </p:spTree>
    <p:extLst>
      <p:ext uri="{BB962C8B-B14F-4D97-AF65-F5344CB8AC3E}">
        <p14:creationId xmlns:p14="http://schemas.microsoft.com/office/powerpoint/2010/main" val="592024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Pozivne konvencije funkcija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>
                <a:latin typeface="+mn-lt"/>
              </a:rPr>
              <a:t>Definišu kako (na kom mjestu, npr. registri, </a:t>
            </a:r>
            <a:r>
              <a:rPr lang="sr-Latn-BA" sz="1400" noProof="0" dirty="0" err="1">
                <a:latin typeface="+mn-lt"/>
              </a:rPr>
              <a:t>stek</a:t>
            </a:r>
            <a:r>
              <a:rPr lang="sr-Latn-BA" sz="1400" noProof="0" dirty="0">
                <a:latin typeface="+mn-lt"/>
              </a:rPr>
              <a:t>) i kojim redoslijedom se parametri prenose, ko uklanja parametre sa mjesta </a:t>
            </a:r>
            <a:r>
              <a:rPr lang="sr-Latn-BA" sz="1400" noProof="0" dirty="0" err="1">
                <a:latin typeface="+mn-lt"/>
              </a:rPr>
              <a:t>prenosa</a:t>
            </a:r>
            <a:r>
              <a:rPr lang="sr-Latn-BA" sz="1400" noProof="0" dirty="0">
                <a:latin typeface="+mn-lt"/>
              </a:rPr>
              <a:t> (pozivalac ili pozvana funkcija, u oba slučaja kod se generiše od strane kompajlera), lokacija rezultata kao i listu registara čije vrijednosti funkcija ne mora sačuvati (tj. može ih upotrijebiti bez čuvanja i vraćanja stare vrijednosti)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>
                <a:latin typeface="+mn-lt"/>
              </a:rPr>
              <a:t>Zavisne od procesora, operativnog sistema i kompajlera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>
                <a:latin typeface="+mn-lt"/>
              </a:rPr>
              <a:t>Konvencije koje se isto zovu mogu da imaju različito značenje kod različitih kompajlera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>
                <a:latin typeface="+mn-lt"/>
              </a:rPr>
              <a:t>Na x86 arhitekturi najstandardnija je </a:t>
            </a:r>
            <a:r>
              <a:rPr lang="sr-Latn-BA" sz="1400" noProof="0" dirty="0" err="1">
                <a:latin typeface="+mn-lt"/>
              </a:rPr>
              <a:t>cdecl</a:t>
            </a:r>
            <a:r>
              <a:rPr lang="sr-Latn-BA" sz="1400" noProof="0" dirty="0">
                <a:latin typeface="+mn-lt"/>
              </a:rPr>
              <a:t> konvencija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>
                <a:latin typeface="+mn-lt"/>
              </a:rPr>
              <a:t>	MSVC: </a:t>
            </a:r>
            <a:r>
              <a:rPr lang="sr-Latn-BA" sz="1400" i="1" noProof="0" dirty="0" err="1">
                <a:latin typeface="+mn-lt"/>
              </a:rPr>
              <a:t>return_type</a:t>
            </a:r>
            <a:r>
              <a:rPr lang="sr-Latn-BA" sz="1400" i="1" noProof="0" dirty="0">
                <a:latin typeface="+mn-lt"/>
              </a:rPr>
              <a:t> __</a:t>
            </a:r>
            <a:r>
              <a:rPr lang="sr-Latn-BA" sz="1400" i="1" noProof="0" dirty="0" err="1">
                <a:latin typeface="+mn-lt"/>
              </a:rPr>
              <a:t>cdecl</a:t>
            </a:r>
            <a:r>
              <a:rPr lang="sr-Latn-BA" sz="1400" i="1" noProof="0" dirty="0">
                <a:latin typeface="+mn-lt"/>
              </a:rPr>
              <a:t> </a:t>
            </a:r>
            <a:r>
              <a:rPr lang="sr-Latn-BA" sz="1400" i="1" noProof="0" dirty="0" err="1">
                <a:latin typeface="+mn-lt"/>
              </a:rPr>
              <a:t>func_name</a:t>
            </a:r>
            <a:r>
              <a:rPr lang="sr-Latn-BA" sz="1400" i="1" noProof="0" dirty="0">
                <a:latin typeface="+mn-lt"/>
              </a:rPr>
              <a:t>();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i="1" noProof="0" dirty="0">
                <a:latin typeface="+mn-lt"/>
              </a:rPr>
              <a:t>	__</a:t>
            </a:r>
            <a:r>
              <a:rPr lang="sr-Latn-BA" sz="1400" i="1" noProof="0" dirty="0" err="1">
                <a:latin typeface="+mn-lt"/>
              </a:rPr>
              <a:t>cdecl</a:t>
            </a:r>
            <a:r>
              <a:rPr lang="sr-Latn-BA" sz="1400" noProof="0" dirty="0">
                <a:latin typeface="+mn-lt"/>
              </a:rPr>
              <a:t> specifikacija je kod nekih kompajlera podrazumijevana pa ne postoji kao ključna riječ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>
                <a:latin typeface="+mn-lt"/>
              </a:rPr>
              <a:t>Na Windows se često koristi </a:t>
            </a:r>
            <a:r>
              <a:rPr lang="sr-Latn-BA" sz="1400" noProof="0" dirty="0" err="1">
                <a:latin typeface="+mn-lt"/>
              </a:rPr>
              <a:t>stdcall</a:t>
            </a:r>
            <a:endParaRPr lang="sr-Latn-BA" sz="1400" noProof="0" dirty="0">
              <a:latin typeface="+mn-lt"/>
            </a:endParaRP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>
                <a:latin typeface="+mn-lt"/>
              </a:rPr>
              <a:t>GCC upotrebljava sljedeću sintaksu</a:t>
            </a:r>
          </a:p>
          <a:p>
            <a:pPr marL="403225" lvl="7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i="1" noProof="0" dirty="0">
                <a:solidFill>
                  <a:srgbClr val="434343"/>
                </a:solidFill>
                <a:latin typeface="+mn-lt"/>
              </a:rPr>
              <a:t>	__</a:t>
            </a:r>
            <a:r>
              <a:rPr lang="sr-Latn-BA" sz="1400" i="1" noProof="0" dirty="0" err="1">
                <a:solidFill>
                  <a:srgbClr val="434343"/>
                </a:solidFill>
                <a:latin typeface="+mn-lt"/>
              </a:rPr>
              <a:t>attribute</a:t>
            </a:r>
            <a:r>
              <a:rPr lang="sr-Latn-BA" sz="1400" i="1" noProof="0" dirty="0">
                <a:solidFill>
                  <a:srgbClr val="434343"/>
                </a:solidFill>
                <a:latin typeface="+mn-lt"/>
              </a:rPr>
              <a:t>__((</a:t>
            </a:r>
            <a:r>
              <a:rPr lang="sr-Latn-BA" sz="1400" i="1" noProof="0" dirty="0" err="1">
                <a:solidFill>
                  <a:srgbClr val="434343"/>
                </a:solidFill>
                <a:latin typeface="+mn-lt"/>
              </a:rPr>
              <a:t>stdcall</a:t>
            </a:r>
            <a:r>
              <a:rPr lang="sr-Latn-BA" sz="1400" i="1" noProof="0" dirty="0">
                <a:solidFill>
                  <a:srgbClr val="434343"/>
                </a:solidFill>
                <a:latin typeface="+mn-lt"/>
              </a:rPr>
              <a:t>)) </a:t>
            </a:r>
            <a:r>
              <a:rPr lang="sr-Latn-BA" sz="1400" i="1" noProof="0" dirty="0" err="1">
                <a:latin typeface="+mn-lt"/>
              </a:rPr>
              <a:t>return_type</a:t>
            </a:r>
            <a:r>
              <a:rPr lang="sr-Latn-BA" sz="1400" i="1" noProof="0" dirty="0">
                <a:solidFill>
                  <a:srgbClr val="434343"/>
                </a:solidFill>
                <a:latin typeface="+mn-lt"/>
              </a:rPr>
              <a:t> </a:t>
            </a:r>
            <a:r>
              <a:rPr lang="sr-Latn-BA" sz="1400" i="1" noProof="0" dirty="0" err="1">
                <a:latin typeface="+mn-lt"/>
              </a:rPr>
              <a:t>func_name</a:t>
            </a:r>
            <a:r>
              <a:rPr lang="sr-Latn-BA" sz="1400" i="1" noProof="0" dirty="0">
                <a:solidFill>
                  <a:srgbClr val="434343"/>
                </a:solidFill>
                <a:latin typeface="+mn-lt"/>
              </a:rPr>
              <a:t>();</a:t>
            </a:r>
            <a:endParaRPr kumimoji="0" lang="sr-Latn-BA" sz="1400" b="0" i="1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+mn-lt"/>
              <a:cs typeface="Catamaran Light"/>
              <a:sym typeface="Catamaran Light"/>
            </a:endParaRPr>
          </a:p>
          <a:p>
            <a:pPr marL="403225" lvl="7" indent="0">
              <a:lnSpc>
                <a:spcPct val="114000"/>
              </a:lnSpc>
              <a:spcAft>
                <a:spcPts val="600"/>
              </a:spcAft>
              <a:buNone/>
            </a:pPr>
            <a:endParaRPr lang="sr-Latn-BA" sz="1400" noProof="0" dirty="0"/>
          </a:p>
        </p:txBody>
      </p:sp>
    </p:spTree>
    <p:extLst>
      <p:ext uri="{BB962C8B-B14F-4D97-AF65-F5344CB8AC3E}">
        <p14:creationId xmlns:p14="http://schemas.microsoft.com/office/powerpoint/2010/main" val="875664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Poravnanje varijabli i članova strukture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Pristup podacima sporiji ili nemoguć (zavisno od procesora) ako adresa početka podataka ili polja strukture nije umnožak njegove veličine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U većini slučajeva optimalno određeno od strane kompajlera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Za nestandardne tipove (npr. vektori za SIMD procesore) neophodna ručna specifikacija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Od C11 se koristi </a:t>
            </a:r>
            <a:r>
              <a:rPr lang="sr-Latn-BA" sz="1400" noProof="0" dirty="0" err="1"/>
              <a:t>alignas</a:t>
            </a:r>
            <a:r>
              <a:rPr lang="sr-Latn-BA" sz="1400" noProof="0" dirty="0"/>
              <a:t>, u prethodnim verzijama nestandardne ekstenzije</a:t>
            </a:r>
          </a:p>
          <a:p>
            <a:pPr lvl="8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GCC, </a:t>
            </a:r>
            <a:r>
              <a:rPr lang="sr-Latn-BA" sz="1400" noProof="0" dirty="0" err="1"/>
              <a:t>Clang</a:t>
            </a:r>
            <a:r>
              <a:rPr lang="sr-Latn-BA" sz="1400" noProof="0" dirty="0"/>
              <a:t>: </a:t>
            </a:r>
            <a:r>
              <a:rPr lang="sr-Latn-BA" sz="1400" i="1" noProof="0" dirty="0"/>
              <a:t>__int128 x __</a:t>
            </a:r>
            <a:r>
              <a:rPr lang="sr-Latn-BA" sz="1400" i="1" noProof="0" dirty="0" err="1"/>
              <a:t>attribute</a:t>
            </a:r>
            <a:r>
              <a:rPr lang="sr-Latn-BA" sz="1400" i="1" noProof="0" dirty="0"/>
              <a:t>__((</a:t>
            </a:r>
            <a:r>
              <a:rPr lang="sr-Latn-BA" sz="1400" i="1" noProof="0" dirty="0" err="1"/>
              <a:t>aligned</a:t>
            </a:r>
            <a:r>
              <a:rPr lang="sr-Latn-BA" sz="1400" i="1" noProof="0" dirty="0"/>
              <a:t>(16)));</a:t>
            </a:r>
          </a:p>
          <a:p>
            <a:pPr lvl="8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MSVC: </a:t>
            </a:r>
            <a:r>
              <a:rPr lang="sr-Latn-BA" sz="1400" i="1" noProof="0" dirty="0"/>
              <a:t>__</a:t>
            </a:r>
            <a:r>
              <a:rPr lang="sr-Latn-BA" sz="1400" i="1" noProof="0" dirty="0" err="1"/>
              <a:t>declspec</a:t>
            </a:r>
            <a:r>
              <a:rPr lang="sr-Latn-BA" sz="1400" i="1" noProof="0" dirty="0"/>
              <a:t>(</a:t>
            </a:r>
            <a:r>
              <a:rPr lang="sr-Latn-BA" sz="1400" i="1" noProof="0" dirty="0" err="1"/>
              <a:t>align</a:t>
            </a:r>
            <a:r>
              <a:rPr lang="sr-Latn-BA" sz="1400" i="1" noProof="0" dirty="0"/>
              <a:t>(16)) __int128 x;</a:t>
            </a:r>
          </a:p>
        </p:txBody>
      </p:sp>
    </p:spTree>
    <p:extLst>
      <p:ext uri="{BB962C8B-B14F-4D97-AF65-F5344CB8AC3E}">
        <p14:creationId xmlns:p14="http://schemas.microsoft.com/office/powerpoint/2010/main" val="2653989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4492625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Poravnanje varijabli i članova strukture</a:t>
            </a:r>
          </a:p>
          <a:p>
            <a:pPr marL="0" indent="0">
              <a:buNone/>
            </a:pPr>
            <a:endParaRPr lang="sr-Latn-BA" noProof="0" dirty="0"/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600" noProof="0" dirty="0" err="1"/>
              <a:t>int</a:t>
            </a:r>
            <a:r>
              <a:rPr lang="sr-Latn-BA" sz="1600" noProof="0" dirty="0"/>
              <a:t> __</a:t>
            </a:r>
            <a:r>
              <a:rPr lang="sr-Latn-BA" sz="1600" noProof="0" dirty="0" err="1"/>
              <a:t>attribute</a:t>
            </a:r>
            <a:r>
              <a:rPr lang="sr-Latn-BA" sz="1600" noProof="0" dirty="0"/>
              <a:t>__((</a:t>
            </a:r>
            <a:r>
              <a:rPr lang="sr-Latn-BA" sz="1600" noProof="0" dirty="0" err="1"/>
              <a:t>aligned</a:t>
            </a:r>
            <a:r>
              <a:rPr lang="sr-Latn-BA" sz="1600" noProof="0" dirty="0"/>
              <a:t>(16))) x;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endParaRPr lang="sr-Latn-BA" sz="1600" i="1" noProof="0" dirty="0"/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600" noProof="0" dirty="0" err="1"/>
              <a:t>struct</a:t>
            </a:r>
            <a:r>
              <a:rPr lang="sr-Latn-BA" sz="1600" noProof="0" dirty="0"/>
              <a:t> </a:t>
            </a:r>
            <a:r>
              <a:rPr lang="sr-Latn-BA" sz="1600" noProof="0" dirty="0" err="1"/>
              <a:t>Example</a:t>
            </a:r>
            <a:r>
              <a:rPr lang="sr-Latn-BA" sz="1600" noProof="0" dirty="0"/>
              <a:t> {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600" noProof="0" dirty="0"/>
              <a:t>	</a:t>
            </a:r>
            <a:r>
              <a:rPr lang="sr-Latn-BA" sz="1600" noProof="0" dirty="0" err="1"/>
              <a:t>char</a:t>
            </a:r>
            <a:r>
              <a:rPr lang="sr-Latn-BA" sz="1600" noProof="0" dirty="0"/>
              <a:t> a;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600" noProof="0" dirty="0"/>
              <a:t>	</a:t>
            </a:r>
            <a:r>
              <a:rPr lang="sr-Latn-BA" sz="1600" noProof="0" dirty="0" err="1"/>
              <a:t>int</a:t>
            </a:r>
            <a:r>
              <a:rPr lang="sr-Latn-BA" sz="1600" noProof="0" dirty="0"/>
              <a:t> b __</a:t>
            </a:r>
            <a:r>
              <a:rPr lang="sr-Latn-BA" sz="1600" noProof="0" dirty="0" err="1"/>
              <a:t>attribute</a:t>
            </a:r>
            <a:r>
              <a:rPr lang="sr-Latn-BA" sz="1600" noProof="0" dirty="0"/>
              <a:t>__((</a:t>
            </a:r>
            <a:r>
              <a:rPr lang="sr-Latn-BA" sz="1600" noProof="0" dirty="0" err="1"/>
              <a:t>aligned</a:t>
            </a:r>
            <a:r>
              <a:rPr lang="sr-Latn-BA" sz="1600" noProof="0" dirty="0"/>
              <a:t>(16)));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600" noProof="0" dirty="0"/>
              <a:t>	</a:t>
            </a:r>
            <a:r>
              <a:rPr lang="sr-Latn-BA" sz="1600" noProof="0" dirty="0" err="1"/>
              <a:t>double</a:t>
            </a:r>
            <a:r>
              <a:rPr lang="sr-Latn-BA" sz="1600" noProof="0" dirty="0"/>
              <a:t> c;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600" noProof="0" dirty="0"/>
              <a:t>};</a:t>
            </a:r>
            <a:endParaRPr lang="sr-Latn-BA" sz="1400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83EBF3-B4EB-A789-7AD4-A1AA944B4B19}"/>
              </a:ext>
            </a:extLst>
          </p:cNvPr>
          <p:cNvSpPr txBox="1">
            <a:spLocks/>
          </p:cNvSpPr>
          <p:nvPr/>
        </p:nvSpPr>
        <p:spPr>
          <a:xfrm>
            <a:off x="5709708" y="1501200"/>
            <a:ext cx="5087601" cy="4742857"/>
          </a:xfrm>
          <a:prstGeom prst="rect">
            <a:avLst/>
          </a:prstGeom>
        </p:spPr>
        <p:txBody>
          <a:bodyPr/>
          <a:lstStyle>
            <a:lvl1pPr marL="179388" indent="-179388" algn="l" defTabSz="914400" rtl="0" eaLnBrk="1" latinLnBrk="0" hangingPunct="1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1pPr>
            <a:lvl2pPr marL="1793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793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tabLst/>
              <a:defRPr lang="en-AU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312738" indent="-179388" algn="l" defTabSz="914400" rtl="0" eaLnBrk="1" latinLnBrk="0" hangingPunct="1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6pPr>
            <a:lvl7pPr marL="447675" indent="-180975" algn="l" defTabSz="914400" rtl="0" eaLnBrk="1" latinLnBrk="0" hangingPunct="1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7pPr>
            <a:lvl8pPr marL="582613" indent="-179388" algn="l" defTabSz="914400" rtl="0" eaLnBrk="1" latinLnBrk="0" hangingPunct="1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8pPr>
            <a:lvl9pPr marL="711200" indent="-173038" algn="l" defTabSz="914400" rtl="0" eaLnBrk="1" latinLnBrk="0" hangingPunct="1">
              <a:lnSpc>
                <a:spcPts val="1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Arial" panose="020B0604020202020204" pitchFamily="34" charset="0"/>
              <a:buChar char="•"/>
              <a:tabLst/>
              <a:defRPr lang="en-GB" sz="1000" kern="1200" dirty="0" smtClean="0">
                <a:solidFill>
                  <a:srgbClr val="44546A"/>
                </a:solidFill>
                <a:latin typeface="Montserrat" panose="00000500000000000000" pitchFamily="50" charset="0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sr-Latn-BA" noProof="0" dirty="0"/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endParaRPr lang="sr-Latn-BA" sz="1400" noProof="0" dirty="0"/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endParaRPr lang="sr-Latn-BA" sz="1400" i="1" noProof="0" dirty="0"/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sr-Latn-BA" sz="1600" noProof="0" dirty="0" err="1"/>
              <a:t>struct</a:t>
            </a:r>
            <a:r>
              <a:rPr lang="sr-Latn-BA" sz="1600" noProof="0" dirty="0"/>
              <a:t> __</a:t>
            </a:r>
            <a:r>
              <a:rPr lang="sr-Latn-BA" sz="1600" noProof="0" dirty="0" err="1"/>
              <a:t>attribute</a:t>
            </a:r>
            <a:r>
              <a:rPr lang="sr-Latn-BA" sz="1600" noProof="0" dirty="0"/>
              <a:t>__((</a:t>
            </a:r>
            <a:r>
              <a:rPr lang="sr-Latn-BA" sz="1600" noProof="0" dirty="0" err="1"/>
              <a:t>aligned</a:t>
            </a:r>
            <a:r>
              <a:rPr lang="sr-Latn-BA" sz="1600" noProof="0" dirty="0"/>
              <a:t>(16))) </a:t>
            </a:r>
            <a:r>
              <a:rPr lang="sr-Latn-BA" sz="1600" noProof="0" dirty="0" err="1"/>
              <a:t>Example</a:t>
            </a:r>
            <a:r>
              <a:rPr lang="sr-Latn-BA" sz="1600" noProof="0" dirty="0"/>
              <a:t> {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sr-Latn-BA" sz="1600" noProof="0" dirty="0"/>
              <a:t>	</a:t>
            </a:r>
            <a:r>
              <a:rPr lang="sr-Latn-BA" sz="1600" noProof="0" dirty="0" err="1"/>
              <a:t>char</a:t>
            </a:r>
            <a:r>
              <a:rPr lang="sr-Latn-BA" sz="1600" noProof="0" dirty="0"/>
              <a:t> a;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sr-Latn-BA" sz="1600" noProof="0" dirty="0"/>
              <a:t>	</a:t>
            </a:r>
            <a:r>
              <a:rPr lang="sr-Latn-BA" sz="1600" noProof="0" dirty="0" err="1"/>
              <a:t>int</a:t>
            </a:r>
            <a:r>
              <a:rPr lang="sr-Latn-BA" sz="1600" noProof="0" dirty="0"/>
              <a:t> b; 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sr-Latn-BA" sz="1600" noProof="0" dirty="0"/>
              <a:t>	</a:t>
            </a:r>
            <a:r>
              <a:rPr lang="sr-Latn-BA" sz="1600" noProof="0" dirty="0" err="1"/>
              <a:t>double</a:t>
            </a:r>
            <a:r>
              <a:rPr lang="sr-Latn-BA" sz="1600" noProof="0" dirty="0"/>
              <a:t> c;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sr-Latn-BA" sz="1600" noProof="0" dirty="0"/>
              <a:t>};</a:t>
            </a:r>
            <a:endParaRPr lang="sr-Latn-BA" sz="1400" i="1" noProof="0" dirty="0"/>
          </a:p>
        </p:txBody>
      </p:sp>
    </p:spTree>
    <p:extLst>
      <p:ext uri="{BB962C8B-B14F-4D97-AF65-F5344CB8AC3E}">
        <p14:creationId xmlns:p14="http://schemas.microsoft.com/office/powerpoint/2010/main" val="1110823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Pakovanje struktura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Kompajler podrazumijevano poravnava članove na umnožak veličine (za osnovne tipove podataka)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Radi uštede prostora ili čitanje binarnih fajlova nekad je potrebno ukloniti ili promijeniti automatsko poravnanje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Koriste se ekstenzije:</a:t>
            </a:r>
          </a:p>
          <a:p>
            <a:pPr lvl="8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GCC: </a:t>
            </a:r>
            <a:r>
              <a:rPr lang="sr-Latn-BA" sz="1400" noProof="0" dirty="0" err="1"/>
              <a:t>struct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name</a:t>
            </a:r>
            <a:r>
              <a:rPr lang="sr-Latn-BA" sz="1400" noProof="0" dirty="0"/>
              <a:t> {} __</a:t>
            </a:r>
            <a:r>
              <a:rPr lang="sr-Latn-BA" sz="1400" noProof="0" dirty="0" err="1"/>
              <a:t>attribute</a:t>
            </a:r>
            <a:r>
              <a:rPr lang="sr-Latn-BA" sz="1400" noProof="0" dirty="0"/>
              <a:t>__((</a:t>
            </a:r>
            <a:r>
              <a:rPr lang="sr-Latn-BA" sz="1400" noProof="0" dirty="0" err="1"/>
              <a:t>packed</a:t>
            </a:r>
            <a:r>
              <a:rPr lang="sr-Latn-BA" sz="1400" noProof="0" dirty="0"/>
              <a:t>));</a:t>
            </a:r>
          </a:p>
          <a:p>
            <a:pPr lvl="8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MSVC, GCC: #pragma </a:t>
            </a:r>
            <a:r>
              <a:rPr lang="sr-Latn-BA" sz="1400" noProof="0" dirty="0" err="1"/>
              <a:t>pack</a:t>
            </a:r>
            <a:r>
              <a:rPr lang="sr-Latn-BA" sz="1400" noProof="0" dirty="0"/>
              <a:t>(1)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Takođe ako je potrebno poravnanje na neku drugu veličinu koristi se:</a:t>
            </a:r>
          </a:p>
          <a:p>
            <a:pPr lvl="7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#pragma </a:t>
            </a:r>
            <a:r>
              <a:rPr lang="sr-Latn-BA" sz="1400" noProof="0" dirty="0" err="1"/>
              <a:t>pack</a:t>
            </a:r>
            <a:r>
              <a:rPr lang="sr-Latn-BA" sz="1400" noProof="0" dirty="0"/>
              <a:t>(</a:t>
            </a:r>
            <a:r>
              <a:rPr lang="sr-Latn-BA" sz="1400" noProof="0" dirty="0" err="1"/>
              <a:t>push</a:t>
            </a:r>
            <a:r>
              <a:rPr lang="sr-Latn-BA" sz="1400" noProof="0" dirty="0"/>
              <a:t>, n) da se promijeni poravnanje na stepen N</a:t>
            </a:r>
          </a:p>
          <a:p>
            <a:pPr lvl="7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#pragma </a:t>
            </a:r>
            <a:r>
              <a:rPr lang="sr-Latn-BA" sz="1400" noProof="0" dirty="0" err="1"/>
              <a:t>pack</a:t>
            </a:r>
            <a:r>
              <a:rPr lang="sr-Latn-BA" sz="1400" noProof="0" dirty="0"/>
              <a:t>(pop), da se poravnanje vrati na prethodnu, potencijalno nepoznatu vrijednost</a:t>
            </a:r>
          </a:p>
        </p:txBody>
      </p:sp>
    </p:spTree>
    <p:extLst>
      <p:ext uri="{BB962C8B-B14F-4D97-AF65-F5344CB8AC3E}">
        <p14:creationId xmlns:p14="http://schemas.microsoft.com/office/powerpoint/2010/main" val="1036017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Pakovanje struktura</a:t>
            </a:r>
          </a:p>
          <a:p>
            <a:pPr marL="0" indent="0">
              <a:buNone/>
            </a:pPr>
            <a:endParaRPr lang="sr-Latn-BA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972E2-30B8-0B3F-2968-C4A227A5C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571" y="1845070"/>
            <a:ext cx="6905430" cy="405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28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Pakovanje struktura</a:t>
            </a:r>
          </a:p>
          <a:p>
            <a:pPr marL="0" indent="0">
              <a:buNone/>
            </a:pPr>
            <a:endParaRPr lang="sr-Latn-BA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11A54-64F8-C685-2893-E2095140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336" y="1856093"/>
            <a:ext cx="6894665" cy="428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0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 err="1"/>
              <a:t>Varijadične</a:t>
            </a:r>
            <a:r>
              <a:rPr lang="sr-Latn-BA" sz="1600" b="1" noProof="0" dirty="0"/>
              <a:t> funkcije (sa proizvoljnim brojem argument)</a:t>
            </a:r>
          </a:p>
          <a:p>
            <a:pPr marL="0" indent="0">
              <a:buNone/>
            </a:pPr>
            <a:endParaRPr lang="sr-Latn-BA" noProof="0" dirty="0"/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tabLst>
                <a:tab pos="360000" algn="l"/>
              </a:tabLst>
            </a:pPr>
            <a:r>
              <a:rPr lang="sr-Latn-BA" sz="1400" noProof="0" dirty="0" err="1"/>
              <a:t>return_type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function_name</a:t>
            </a:r>
            <a:r>
              <a:rPr lang="sr-Latn-BA" sz="1400" noProof="0" dirty="0"/>
              <a:t>(</a:t>
            </a:r>
            <a:r>
              <a:rPr lang="sr-Latn-BA" sz="1400" noProof="0" dirty="0" err="1"/>
              <a:t>int</a:t>
            </a:r>
            <a:r>
              <a:rPr lang="sr-Latn-BA" sz="1400" noProof="0" dirty="0"/>
              <a:t> arg1, ...){</a:t>
            </a:r>
            <a:br>
              <a:rPr lang="sr-Latn-BA" sz="1400" noProof="0" dirty="0"/>
            </a:br>
            <a:r>
              <a:rPr lang="sr-Latn-BA" sz="1400" noProof="0" dirty="0"/>
              <a:t>	</a:t>
            </a:r>
            <a:r>
              <a:rPr lang="sr-Latn-BA" sz="1400" b="1" noProof="0" dirty="0" err="1"/>
              <a:t>va_list</a:t>
            </a:r>
            <a:r>
              <a:rPr lang="sr-Latn-BA" sz="1400" b="1" noProof="0" dirty="0"/>
              <a:t> </a:t>
            </a:r>
            <a:r>
              <a:rPr lang="sr-Latn-BA" sz="1400" noProof="0" dirty="0" err="1"/>
              <a:t>ap</a:t>
            </a:r>
            <a:r>
              <a:rPr lang="sr-Latn-BA" sz="1400" noProof="0" dirty="0"/>
              <a:t>;</a:t>
            </a:r>
            <a:br>
              <a:rPr lang="sr-Latn-BA" sz="1400" noProof="0" dirty="0"/>
            </a:br>
            <a:r>
              <a:rPr lang="sr-Latn-BA" sz="1400" noProof="0" dirty="0"/>
              <a:t>	. . .</a:t>
            </a:r>
            <a:br>
              <a:rPr lang="sr-Latn-BA" sz="1400" noProof="0" dirty="0"/>
            </a:br>
            <a:r>
              <a:rPr lang="sr-Latn-BA" sz="1400" noProof="0" dirty="0"/>
              <a:t>	type_1 a;</a:t>
            </a:r>
            <a:br>
              <a:rPr lang="sr-Latn-BA" sz="1400" noProof="0" dirty="0"/>
            </a:br>
            <a:r>
              <a:rPr lang="sr-Latn-BA" sz="1400" noProof="0" dirty="0"/>
              <a:t>	. . .</a:t>
            </a:r>
            <a:br>
              <a:rPr lang="sr-Latn-BA" sz="1400" noProof="0" dirty="0"/>
            </a:br>
            <a:r>
              <a:rPr lang="sr-Latn-BA" sz="1400" noProof="0" dirty="0"/>
              <a:t>	</a:t>
            </a:r>
            <a:r>
              <a:rPr lang="sr-Latn-BA" sz="1400" b="1" noProof="0" dirty="0" err="1"/>
              <a:t>va_start</a:t>
            </a:r>
            <a:r>
              <a:rPr lang="sr-Latn-BA" sz="1400" noProof="0" dirty="0"/>
              <a:t>(</a:t>
            </a:r>
            <a:r>
              <a:rPr lang="sr-Latn-BA" sz="1400" noProof="0" dirty="0" err="1"/>
              <a:t>ap</a:t>
            </a:r>
            <a:r>
              <a:rPr lang="sr-Latn-BA" sz="1400" noProof="0" dirty="0"/>
              <a:t>, arg1);</a:t>
            </a:r>
            <a:br>
              <a:rPr lang="sr-Latn-BA" sz="1400" noProof="0" dirty="0"/>
            </a:br>
            <a:r>
              <a:rPr lang="sr-Latn-BA" sz="1400" noProof="0" dirty="0"/>
              <a:t>	. . .</a:t>
            </a:r>
            <a:br>
              <a:rPr lang="sr-Latn-BA" sz="1400" noProof="0" dirty="0"/>
            </a:br>
            <a:r>
              <a:rPr lang="sr-Latn-BA" sz="1400" noProof="0" dirty="0"/>
              <a:t>	a = </a:t>
            </a:r>
            <a:r>
              <a:rPr lang="sr-Latn-BA" sz="1400" b="1" noProof="0" dirty="0" err="1"/>
              <a:t>va_arg</a:t>
            </a:r>
            <a:r>
              <a:rPr lang="sr-Latn-BA" sz="1400" noProof="0" dirty="0"/>
              <a:t>(</a:t>
            </a:r>
            <a:r>
              <a:rPr lang="sr-Latn-BA" sz="1400" noProof="0" dirty="0" err="1"/>
              <a:t>ap</a:t>
            </a:r>
            <a:r>
              <a:rPr lang="sr-Latn-BA" sz="1400" noProof="0" dirty="0"/>
              <a:t>, type_1);</a:t>
            </a:r>
            <a:br>
              <a:rPr lang="sr-Latn-BA" sz="1400" noProof="0" dirty="0"/>
            </a:br>
            <a:r>
              <a:rPr lang="sr-Latn-BA" sz="1400" noProof="0" dirty="0"/>
              <a:t>	. . .</a:t>
            </a:r>
            <a:br>
              <a:rPr lang="sr-Latn-BA" sz="1400" noProof="0" dirty="0"/>
            </a:br>
            <a:r>
              <a:rPr lang="sr-Latn-BA" sz="1400" noProof="0" dirty="0"/>
              <a:t>	</a:t>
            </a:r>
            <a:r>
              <a:rPr lang="sr-Latn-BA" sz="1400" b="1" noProof="0" dirty="0" err="1"/>
              <a:t>va_end</a:t>
            </a:r>
            <a:r>
              <a:rPr lang="sr-Latn-BA" sz="1400" noProof="0" dirty="0"/>
              <a:t>(</a:t>
            </a:r>
            <a:r>
              <a:rPr lang="sr-Latn-BA" sz="1400" noProof="0" dirty="0" err="1"/>
              <a:t>ap</a:t>
            </a:r>
            <a:r>
              <a:rPr lang="sr-Latn-BA" sz="1400" noProof="0" dirty="0"/>
              <a:t>);</a:t>
            </a:r>
            <a:br>
              <a:rPr lang="sr-Latn-BA" sz="1400" noProof="0" dirty="0"/>
            </a:br>
            <a:r>
              <a:rPr lang="sr-Latn-BA" sz="1400" noProof="0" dirty="0"/>
              <a:t>	. . .</a:t>
            </a:r>
            <a:br>
              <a:rPr lang="sr-Latn-BA" sz="1400" noProof="0" dirty="0"/>
            </a:br>
            <a:r>
              <a:rPr lang="sr-Latn-BA" sz="1400" noProof="0" dirty="0"/>
              <a:t>}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tabLst>
                <a:tab pos="360000" algn="l"/>
              </a:tabLst>
            </a:pPr>
            <a:endParaRPr lang="sr-Latn-BA" sz="1400" noProof="0" dirty="0"/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tabLst>
                <a:tab pos="360000" algn="l"/>
              </a:tabLst>
            </a:pPr>
            <a:r>
              <a:rPr lang="sr-Latn-BA" sz="1400" b="1" noProof="0" dirty="0" err="1"/>
              <a:t>va_list</a:t>
            </a:r>
            <a:r>
              <a:rPr lang="sr-Latn-BA" sz="1400" b="1" noProof="0" dirty="0"/>
              <a:t> </a:t>
            </a:r>
            <a:r>
              <a:rPr lang="sr-Latn-BA" sz="1400" noProof="0" dirty="0" err="1"/>
              <a:t>ap</a:t>
            </a:r>
            <a:r>
              <a:rPr lang="sr-Latn-BA" sz="1400" noProof="0" dirty="0"/>
              <a:t>  - deklaracija </a:t>
            </a:r>
            <a:r>
              <a:rPr lang="sr-Latn-BA" sz="1400" noProof="0" dirty="0" err="1"/>
              <a:t>ap</a:t>
            </a:r>
            <a:r>
              <a:rPr lang="sr-Latn-BA" sz="1400" noProof="0" dirty="0"/>
              <a:t> liste u tipa </a:t>
            </a:r>
            <a:r>
              <a:rPr lang="sr-Latn-BA" sz="1400" noProof="0" dirty="0" err="1"/>
              <a:t>va_list</a:t>
            </a:r>
            <a:r>
              <a:rPr lang="sr-Latn-BA" sz="1400" noProof="0" dirty="0"/>
              <a:t> u kojoj će biti sadržani svi argumenti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tabLst>
                <a:tab pos="360000" algn="l"/>
              </a:tabLst>
            </a:pPr>
            <a:r>
              <a:rPr lang="sr-Latn-BA" sz="1400" b="1" noProof="0" dirty="0" err="1"/>
              <a:t>va_start</a:t>
            </a:r>
            <a:r>
              <a:rPr lang="sr-Latn-BA" sz="1400" b="1" noProof="0" dirty="0"/>
              <a:t> </a:t>
            </a:r>
            <a:r>
              <a:rPr lang="sr-Latn-BA" sz="1400" noProof="0" dirty="0"/>
              <a:t>– </a:t>
            </a:r>
            <a:r>
              <a:rPr lang="sr-Latn-BA" sz="1400" noProof="0" dirty="0" err="1"/>
              <a:t>inicijalizuje</a:t>
            </a:r>
            <a:r>
              <a:rPr lang="sr-Latn-BA" sz="1400" noProof="0" dirty="0"/>
              <a:t> se </a:t>
            </a:r>
            <a:r>
              <a:rPr lang="sr-Latn-BA" sz="1400" noProof="0" dirty="0" err="1"/>
              <a:t>ap</a:t>
            </a:r>
            <a:r>
              <a:rPr lang="sr-Latn-BA" sz="1400" noProof="0" dirty="0"/>
              <a:t> varijabla da bi se dobavili svi argumenti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tabLst>
                <a:tab pos="360000" algn="l"/>
              </a:tabLst>
            </a:pPr>
            <a:r>
              <a:rPr lang="sr-Latn-BA" sz="1400" b="1" noProof="0" dirty="0" err="1"/>
              <a:t>va_arg</a:t>
            </a:r>
            <a:r>
              <a:rPr lang="sr-Latn-BA" sz="1400" b="1" noProof="0" dirty="0"/>
              <a:t> </a:t>
            </a:r>
            <a:r>
              <a:rPr lang="sr-Latn-BA" sz="1400" noProof="0" dirty="0"/>
              <a:t>– dobavlja se sledeći argument sa tipom type_1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tabLst>
                <a:tab pos="360000" algn="l"/>
              </a:tabLst>
            </a:pPr>
            <a:r>
              <a:rPr lang="sr-Latn-BA" sz="1400" b="1" noProof="0" dirty="0" err="1"/>
              <a:t>va_end</a:t>
            </a:r>
            <a:r>
              <a:rPr lang="sr-Latn-BA" sz="1400" b="1" noProof="0" dirty="0"/>
              <a:t> </a:t>
            </a:r>
            <a:r>
              <a:rPr lang="sr-Latn-BA" sz="1400" noProof="0" dirty="0"/>
              <a:t>– čišćenje varijable </a:t>
            </a:r>
            <a:r>
              <a:rPr lang="sr-Latn-BA" sz="1400" noProof="0" dirty="0" err="1"/>
              <a:t>ap</a:t>
            </a:r>
            <a:endParaRPr lang="sr-Latn-BA" sz="1400" noProof="0" dirty="0"/>
          </a:p>
        </p:txBody>
      </p:sp>
    </p:spTree>
    <p:extLst>
      <p:ext uri="{BB962C8B-B14F-4D97-AF65-F5344CB8AC3E}">
        <p14:creationId xmlns:p14="http://schemas.microsoft.com/office/powerpoint/2010/main" val="1901453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/>
              <a:t>Redoslijed bajta u memoriji (</a:t>
            </a:r>
            <a:r>
              <a:rPr lang="sr-Latn-BA" sz="1600" b="1" noProof="0" dirty="0" err="1"/>
              <a:t>endianness</a:t>
            </a:r>
            <a:r>
              <a:rPr lang="sr-Latn-BA" sz="1600" b="1" noProof="0" dirty="0"/>
              <a:t>)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Govori koji kraj višebajtnog podatka se nalazi prvi u memoriji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i="1" noProof="0" dirty="0" err="1"/>
              <a:t>Little</a:t>
            </a:r>
            <a:r>
              <a:rPr lang="sr-Latn-BA" sz="1400" i="1" noProof="0" dirty="0"/>
              <a:t> </a:t>
            </a:r>
            <a:r>
              <a:rPr lang="sr-Latn-BA" sz="1400" i="1" noProof="0" dirty="0" err="1"/>
              <a:t>endian</a:t>
            </a:r>
            <a:r>
              <a:rPr lang="sr-Latn-BA" sz="1400" noProof="0" dirty="0"/>
              <a:t> prvo bajt najmanje težine (jedinice)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i="1" noProof="0" dirty="0" err="1"/>
              <a:t>Big</a:t>
            </a:r>
            <a:r>
              <a:rPr lang="sr-Latn-BA" sz="1400" i="1" noProof="0" dirty="0"/>
              <a:t> </a:t>
            </a:r>
            <a:r>
              <a:rPr lang="sr-Latn-BA" sz="1400" i="1" noProof="0" dirty="0" err="1"/>
              <a:t>endian</a:t>
            </a:r>
            <a:r>
              <a:rPr lang="sr-Latn-BA" sz="1400" i="1" noProof="0" dirty="0"/>
              <a:t> – </a:t>
            </a:r>
            <a:r>
              <a:rPr lang="sr-Latn-BA" sz="1400" noProof="0" dirty="0"/>
              <a:t>prvo bajt najveće težine (npr. kod četvorobajtnog broja poput int32_t težina je 2 na 24)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Intel arhitektura je </a:t>
            </a:r>
            <a:r>
              <a:rPr lang="sr-Latn-BA" sz="1400" i="1" noProof="0" dirty="0" err="1"/>
              <a:t>little</a:t>
            </a:r>
            <a:r>
              <a:rPr lang="sr-Latn-BA" sz="1400" i="1" noProof="0" dirty="0"/>
              <a:t> </a:t>
            </a:r>
            <a:r>
              <a:rPr lang="sr-Latn-BA" sz="1400" i="1" noProof="0" dirty="0" err="1"/>
              <a:t>endian</a:t>
            </a:r>
            <a:r>
              <a:rPr lang="sr-Latn-BA" sz="1400" i="1" noProof="0" dirty="0"/>
              <a:t> </a:t>
            </a:r>
            <a:r>
              <a:rPr lang="sr-Latn-BA" sz="1400" noProof="0" dirty="0"/>
              <a:t>kao i većina modernih arhitektura, dok je </a:t>
            </a:r>
            <a:r>
              <a:rPr lang="sr-Latn-BA" sz="1400" noProof="0" dirty="0" err="1"/>
              <a:t>OpenRISC</a:t>
            </a:r>
            <a:r>
              <a:rPr lang="sr-Latn-BA" sz="1400" noProof="0" dirty="0"/>
              <a:t> </a:t>
            </a:r>
            <a:r>
              <a:rPr lang="sr-Latn-BA" sz="1400" i="1" noProof="0" dirty="0" err="1"/>
              <a:t>big</a:t>
            </a:r>
            <a:r>
              <a:rPr lang="sr-Latn-BA" sz="1400" i="1" noProof="0" dirty="0"/>
              <a:t> </a:t>
            </a:r>
            <a:r>
              <a:rPr lang="sr-Latn-BA" sz="1400" i="1" noProof="0" dirty="0" err="1"/>
              <a:t>endian</a:t>
            </a:r>
            <a:r>
              <a:rPr lang="sr-Latn-BA" sz="1400" i="1" noProof="0" dirty="0"/>
              <a:t>. </a:t>
            </a:r>
            <a:r>
              <a:rPr lang="sr-Latn-BA" sz="1400" noProof="0" dirty="0"/>
              <a:t>Postoje i procesorske arhitekture kod kojih se može </a:t>
            </a:r>
            <a:r>
              <a:rPr lang="sr-Latn-BA" sz="1400" noProof="0" dirty="0" err="1"/>
              <a:t>izabrat</a:t>
            </a:r>
            <a:r>
              <a:rPr lang="sr-Latn-BA" sz="1400" noProof="0" dirty="0"/>
              <a:t> hardverski ili softverski </a:t>
            </a:r>
            <a:r>
              <a:rPr lang="sr-Latn-BA" sz="1400" noProof="0" dirty="0" err="1"/>
              <a:t>endianess</a:t>
            </a:r>
            <a:endParaRPr lang="sr-Latn-BA" sz="1400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Pri </a:t>
            </a:r>
            <a:r>
              <a:rPr lang="sr-Latn-BA" sz="1400" noProof="0" dirty="0" err="1"/>
              <a:t>prenosu</a:t>
            </a:r>
            <a:r>
              <a:rPr lang="sr-Latn-BA" sz="1400" noProof="0" dirty="0"/>
              <a:t> podataka </a:t>
            </a:r>
            <a:r>
              <a:rPr lang="sr-Latn-BA" sz="1400" noProof="0" dirty="0" err="1"/>
              <a:t>preko</a:t>
            </a:r>
            <a:r>
              <a:rPr lang="sr-Latn-BA" sz="1400" noProof="0" dirty="0"/>
              <a:t> mreže i globalno, na Internetu, koristi se </a:t>
            </a:r>
            <a:r>
              <a:rPr lang="sr-Latn-BA" sz="1400" i="1" noProof="0" dirty="0" err="1"/>
              <a:t>big</a:t>
            </a:r>
            <a:r>
              <a:rPr lang="sr-Latn-BA" sz="1400" i="1" noProof="0" dirty="0"/>
              <a:t> </a:t>
            </a:r>
            <a:r>
              <a:rPr lang="sr-Latn-BA" sz="1400" i="1" noProof="0" dirty="0" err="1"/>
              <a:t>endian</a:t>
            </a:r>
            <a:r>
              <a:rPr lang="sr-Latn-BA" sz="1400" noProof="0" dirty="0"/>
              <a:t>, gdje se još češće zove </a:t>
            </a:r>
            <a:r>
              <a:rPr lang="sr-Latn-BA" sz="1400" i="1" noProof="0" dirty="0" err="1"/>
              <a:t>network</a:t>
            </a:r>
            <a:r>
              <a:rPr lang="sr-Latn-BA" sz="1400" i="1" noProof="0" dirty="0"/>
              <a:t> </a:t>
            </a:r>
            <a:r>
              <a:rPr lang="sr-Latn-BA" sz="1400" i="1" noProof="0" dirty="0" err="1"/>
              <a:t>order</a:t>
            </a:r>
            <a:endParaRPr lang="sr-Latn-BA" sz="1400" i="1" noProof="0" dirty="0"/>
          </a:p>
          <a:p>
            <a:pPr lvl="7">
              <a:lnSpc>
                <a:spcPct val="114000"/>
              </a:lnSpc>
              <a:spcAft>
                <a:spcPts val="600"/>
              </a:spcAft>
            </a:pP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htons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() - "Host to </a:t>
            </a: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Network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 </a:t>
            </a: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Short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" 16</a:t>
            </a:r>
            <a:r>
              <a:rPr lang="sr-Latn-BA" sz="1400" kern="0" noProof="0" dirty="0">
                <a:solidFill>
                  <a:srgbClr val="434343"/>
                </a:solidFill>
                <a:cs typeface="Catamaran Light"/>
                <a:sym typeface="Catamaran Light"/>
              </a:rPr>
              <a:t> bit</a:t>
            </a:r>
          </a:p>
          <a:p>
            <a:pPr lvl="7">
              <a:lnSpc>
                <a:spcPct val="114000"/>
              </a:lnSpc>
              <a:spcAft>
                <a:spcPts val="600"/>
              </a:spcAft>
            </a:pP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htonl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() - "Host to </a:t>
            </a: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Network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 Long" 32 bit</a:t>
            </a:r>
            <a:endParaRPr lang="sr-Latn-BA" sz="1400" kern="0" noProof="0" dirty="0">
              <a:solidFill>
                <a:srgbClr val="434343"/>
              </a:solidFill>
              <a:cs typeface="Catamaran Light"/>
              <a:sym typeface="Catamaran Light"/>
            </a:endParaRPr>
          </a:p>
          <a:p>
            <a:pPr lvl="7">
              <a:lnSpc>
                <a:spcPct val="114000"/>
              </a:lnSpc>
              <a:spcAft>
                <a:spcPts val="600"/>
              </a:spcAft>
            </a:pP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ntohs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() - "</a:t>
            </a: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Network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 to Host </a:t>
            </a: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Short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" 16</a:t>
            </a:r>
            <a:r>
              <a:rPr lang="sr-Latn-BA" sz="1400" kern="0" noProof="0" dirty="0">
                <a:solidFill>
                  <a:srgbClr val="434343"/>
                </a:solidFill>
                <a:cs typeface="Catamaran Light"/>
                <a:sym typeface="Catamaran Light"/>
              </a:rPr>
              <a:t> bit</a:t>
            </a:r>
          </a:p>
          <a:p>
            <a:pPr lvl="7">
              <a:lnSpc>
                <a:spcPct val="114000"/>
              </a:lnSpc>
              <a:spcAft>
                <a:spcPts val="600"/>
              </a:spcAft>
            </a:pP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ntohl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() - "</a:t>
            </a:r>
            <a:r>
              <a:rPr kumimoji="0" lang="sr-Latn-B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Network</a:t>
            </a:r>
            <a:r>
              <a:rPr kumimoji="0" lang="sr-Latn-BA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cs typeface="Catamaran Light"/>
                <a:sym typeface="Catamaran Light"/>
              </a:rPr>
              <a:t> to Host Long" 32</a:t>
            </a:r>
            <a:r>
              <a:rPr lang="sr-Latn-BA" sz="1400" kern="0" noProof="0" dirty="0">
                <a:solidFill>
                  <a:srgbClr val="434343"/>
                </a:solidFill>
                <a:cs typeface="Catamaran Light"/>
                <a:sym typeface="Catamaran Light"/>
              </a:rPr>
              <a:t> bit</a:t>
            </a:r>
            <a:endParaRPr lang="sr-Latn-BA" sz="1400" noProof="0" dirty="0"/>
          </a:p>
        </p:txBody>
      </p:sp>
    </p:spTree>
    <p:extLst>
      <p:ext uri="{BB962C8B-B14F-4D97-AF65-F5344CB8AC3E}">
        <p14:creationId xmlns:p14="http://schemas.microsoft.com/office/powerpoint/2010/main" val="172103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B6B-E938-F5A1-1F47-7961234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noProof="0" dirty="0"/>
              <a:t>Napredni koncepti C jezika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1C3F-9039-558C-8509-C62F3BA46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975" y="1501200"/>
            <a:ext cx="11145764" cy="4742857"/>
          </a:xfrm>
        </p:spPr>
        <p:txBody>
          <a:bodyPr/>
          <a:lstStyle/>
          <a:p>
            <a:pPr marL="0" indent="0">
              <a:buNone/>
            </a:pPr>
            <a:r>
              <a:rPr lang="sr-Latn-BA" sz="1600" b="1" noProof="0" dirty="0" err="1"/>
              <a:t>Bitska</a:t>
            </a:r>
            <a:r>
              <a:rPr lang="sr-Latn-BA" sz="1600" b="1" noProof="0" dirty="0"/>
              <a:t> polja</a:t>
            </a:r>
          </a:p>
          <a:p>
            <a:pPr marL="0" indent="0">
              <a:buNone/>
            </a:pPr>
            <a:endParaRPr lang="sr-Latn-BA" noProof="0" dirty="0"/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Koriste se za pakovanje podataka, rad sa </a:t>
            </a:r>
            <a:r>
              <a:rPr lang="sr-Latn-BA" sz="1400" noProof="0" dirty="0" err="1"/>
              <a:t>flegovima</a:t>
            </a:r>
            <a:r>
              <a:rPr lang="sr-Latn-BA" sz="1400" noProof="0" dirty="0"/>
              <a:t>, pristup specijalnim bitima kod memorijski </a:t>
            </a:r>
            <a:r>
              <a:rPr lang="sr-Latn-BA" sz="1400" noProof="0" dirty="0" err="1"/>
              <a:t>mapiranih</a:t>
            </a:r>
            <a:r>
              <a:rPr lang="sr-Latn-BA" sz="1400" noProof="0" dirty="0"/>
              <a:t> uređaja. Sve ovo je moguće uraditi i ručno, uz pomoć </a:t>
            </a:r>
            <a:r>
              <a:rPr lang="sr-Latn-BA" sz="1400" noProof="0" dirty="0" err="1"/>
              <a:t>šiftovanja</a:t>
            </a:r>
            <a:r>
              <a:rPr lang="sr-Latn-BA" sz="1400" noProof="0" dirty="0"/>
              <a:t> i </a:t>
            </a:r>
            <a:r>
              <a:rPr lang="sr-Latn-BA" sz="1400" noProof="0" dirty="0" err="1"/>
              <a:t>bitskih</a:t>
            </a:r>
            <a:r>
              <a:rPr lang="sr-Latn-BA" sz="1400" noProof="0" dirty="0"/>
              <a:t> operacija.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r>
              <a:rPr lang="sr-Latn-BA" sz="1400" noProof="0" dirty="0"/>
              <a:t>Nisu prenosivi između </a:t>
            </a:r>
            <a:r>
              <a:rPr lang="sr-Latn-BA" sz="1400" noProof="0" dirty="0" err="1"/>
              <a:t>little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endian</a:t>
            </a:r>
            <a:r>
              <a:rPr lang="sr-Latn-BA" sz="1400" noProof="0" dirty="0"/>
              <a:t> i </a:t>
            </a:r>
            <a:r>
              <a:rPr lang="sr-Latn-BA" sz="1400" noProof="0" dirty="0" err="1"/>
              <a:t>big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endian</a:t>
            </a:r>
            <a:r>
              <a:rPr lang="sr-Latn-BA" sz="1400" noProof="0" dirty="0"/>
              <a:t> arhitektura</a:t>
            </a:r>
          </a:p>
          <a:p>
            <a:pPr lvl="6">
              <a:lnSpc>
                <a:spcPct val="114000"/>
              </a:lnSpc>
              <a:spcAft>
                <a:spcPts val="600"/>
              </a:spcAft>
            </a:pPr>
            <a:endParaRPr lang="sr-Latn-BA" sz="1400" noProof="0" dirty="0"/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/>
              <a:t>	</a:t>
            </a:r>
            <a:r>
              <a:rPr lang="sr-Latn-BA" sz="1400" noProof="0" dirty="0" err="1"/>
              <a:t>struct</a:t>
            </a:r>
            <a:r>
              <a:rPr lang="sr-Latn-BA" sz="1400" noProof="0" dirty="0"/>
              <a:t> Struct1  {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/>
              <a:t>    		</a:t>
            </a:r>
            <a:r>
              <a:rPr lang="sr-Latn-BA" sz="1400" noProof="0" dirty="0" err="1"/>
              <a:t>unsigned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int</a:t>
            </a:r>
            <a:r>
              <a:rPr lang="sr-Latn-BA" sz="1400" noProof="0" dirty="0"/>
              <a:t> a : 1;  // 1 bit </a:t>
            </a:r>
            <a:r>
              <a:rPr lang="sr-Latn-BA" sz="1400" noProof="0" dirty="0" err="1"/>
              <a:t>for</a:t>
            </a:r>
            <a:r>
              <a:rPr lang="sr-Latn-BA" sz="1400" noProof="0" dirty="0"/>
              <a:t> a (0 </a:t>
            </a:r>
            <a:r>
              <a:rPr lang="sr-Latn-BA" sz="1400" noProof="0" dirty="0" err="1"/>
              <a:t>or</a:t>
            </a:r>
            <a:r>
              <a:rPr lang="sr-Latn-BA" sz="1400" noProof="0" dirty="0"/>
              <a:t> 1)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/>
              <a:t>    		</a:t>
            </a:r>
            <a:r>
              <a:rPr lang="sr-Latn-BA" sz="1400" noProof="0" dirty="0" err="1"/>
              <a:t>unsigned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int</a:t>
            </a:r>
            <a:r>
              <a:rPr lang="sr-Latn-BA" sz="1400" noProof="0" dirty="0"/>
              <a:t> b : 3;  // 3 </a:t>
            </a:r>
            <a:r>
              <a:rPr lang="sr-Latn-BA" sz="1400" noProof="0" dirty="0" err="1"/>
              <a:t>bits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for</a:t>
            </a:r>
            <a:r>
              <a:rPr lang="sr-Latn-BA" sz="1400" noProof="0" dirty="0"/>
              <a:t> b (0 to 7)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/>
              <a:t>    		</a:t>
            </a:r>
            <a:r>
              <a:rPr lang="sr-Latn-BA" sz="1400" noProof="0" dirty="0" err="1"/>
              <a:t>unsigned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int</a:t>
            </a:r>
            <a:r>
              <a:rPr lang="sr-Latn-BA" sz="1400" noProof="0" dirty="0"/>
              <a:t> c : 4;  // 4 </a:t>
            </a:r>
            <a:r>
              <a:rPr lang="sr-Latn-BA" sz="1400" noProof="0" dirty="0" err="1"/>
              <a:t>bits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for</a:t>
            </a:r>
            <a:r>
              <a:rPr lang="sr-Latn-BA" sz="1400" noProof="0" dirty="0"/>
              <a:t> c (0 to 15)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/>
              <a:t>    		</a:t>
            </a:r>
            <a:r>
              <a:rPr lang="sr-Latn-BA" sz="1400" noProof="0" dirty="0" err="1"/>
              <a:t>unsigned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int</a:t>
            </a:r>
            <a:r>
              <a:rPr lang="sr-Latn-BA" sz="1400" noProof="0" dirty="0"/>
              <a:t> d : 8;  // 8 </a:t>
            </a:r>
            <a:r>
              <a:rPr lang="sr-Latn-BA" sz="1400" noProof="0" dirty="0" err="1"/>
              <a:t>bits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for</a:t>
            </a:r>
            <a:r>
              <a:rPr lang="sr-Latn-BA" sz="1400" noProof="0" dirty="0"/>
              <a:t> d (0 to 255)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/>
              <a:t>		</a:t>
            </a:r>
            <a:r>
              <a:rPr lang="sr-Latn-BA" sz="1400" noProof="0" dirty="0" err="1"/>
              <a:t>unsigned</a:t>
            </a:r>
            <a:r>
              <a:rPr lang="sr-Latn-BA" sz="1400" noProof="0" dirty="0"/>
              <a:t> </a:t>
            </a:r>
            <a:r>
              <a:rPr lang="sr-Latn-BA" sz="1400" noProof="0" dirty="0" err="1"/>
              <a:t>int</a:t>
            </a:r>
            <a:r>
              <a:rPr lang="sr-Latn-BA" sz="1400" noProof="0" dirty="0"/>
              <a:t> : 0 // označava da se naredno polje mora pakovati u novi broj iako imam dovoljno 			               prostora 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r>
              <a:rPr lang="sr-Latn-BA" sz="1400" noProof="0" dirty="0"/>
              <a:t>	};</a:t>
            </a:r>
          </a:p>
          <a:p>
            <a:pPr marL="266700" lvl="6" indent="0">
              <a:lnSpc>
                <a:spcPct val="114000"/>
              </a:lnSpc>
              <a:spcAft>
                <a:spcPts val="600"/>
              </a:spcAft>
              <a:buNone/>
            </a:pPr>
            <a:endParaRPr lang="sr-Latn-BA" sz="1400" noProof="0" dirty="0"/>
          </a:p>
        </p:txBody>
      </p:sp>
    </p:spTree>
    <p:extLst>
      <p:ext uri="{BB962C8B-B14F-4D97-AF65-F5344CB8AC3E}">
        <p14:creationId xmlns:p14="http://schemas.microsoft.com/office/powerpoint/2010/main" val="949200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827;p33">
            <a:extLst>
              <a:ext uri="{FF2B5EF4-FFF2-40B4-BE49-F238E27FC236}">
                <a16:creationId xmlns:a16="http://schemas.microsoft.com/office/drawing/2014/main" id="{505ACA52-6258-0B29-78BB-A179F95B004B}"/>
              </a:ext>
            </a:extLst>
          </p:cNvPr>
          <p:cNvGrpSpPr/>
          <p:nvPr/>
        </p:nvGrpSpPr>
        <p:grpSpPr>
          <a:xfrm>
            <a:off x="3452813" y="4424363"/>
            <a:ext cx="2235200" cy="1243012"/>
            <a:chOff x="914400" y="3691399"/>
            <a:chExt cx="2235200" cy="1242753"/>
          </a:xfrm>
        </p:grpSpPr>
        <p:sp>
          <p:nvSpPr>
            <p:cNvPr id="5" name="Google Shape;828;p33">
              <a:extLst>
                <a:ext uri="{FF2B5EF4-FFF2-40B4-BE49-F238E27FC236}">
                  <a16:creationId xmlns:a16="http://schemas.microsoft.com/office/drawing/2014/main" id="{4021CEE5-9135-7C24-E6B8-798CBE17B67A}"/>
                </a:ext>
              </a:extLst>
            </p:cNvPr>
            <p:cNvSpPr txBox="1"/>
            <p:nvPr/>
          </p:nvSpPr>
          <p:spPr>
            <a:xfrm>
              <a:off x="919163" y="3691399"/>
              <a:ext cx="1874837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sr-Latn-BA" sz="1400" b="1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Belgrade</a:t>
              </a:r>
              <a:r>
                <a:rPr lang="sr-Latn-BA" sz="1400" b="1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Office</a:t>
              </a:r>
            </a:p>
          </p:txBody>
        </p:sp>
        <p:sp>
          <p:nvSpPr>
            <p:cNvPr id="6" name="Google Shape;829;p33">
              <a:extLst>
                <a:ext uri="{FF2B5EF4-FFF2-40B4-BE49-F238E27FC236}">
                  <a16:creationId xmlns:a16="http://schemas.microsoft.com/office/drawing/2014/main" id="{766077AE-718F-9A25-1A93-548F5878E082}"/>
                </a:ext>
              </a:extLst>
            </p:cNvPr>
            <p:cNvSpPr/>
            <p:nvPr/>
          </p:nvSpPr>
          <p:spPr>
            <a:xfrm>
              <a:off x="914400" y="3946061"/>
              <a:ext cx="2235200" cy="9880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Dunavska 2v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11158 Beograd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Serbia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</a:t>
              </a: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: +381 (0)21 4801 121</a:t>
              </a:r>
              <a:endParaRPr lang="sr-Latn-BA" noProof="0" dirty="0"/>
            </a:p>
          </p:txBody>
        </p:sp>
      </p:grpSp>
      <p:grpSp>
        <p:nvGrpSpPr>
          <p:cNvPr id="7" name="Google Shape;830;p33">
            <a:extLst>
              <a:ext uri="{FF2B5EF4-FFF2-40B4-BE49-F238E27FC236}">
                <a16:creationId xmlns:a16="http://schemas.microsoft.com/office/drawing/2014/main" id="{DA54B9AF-9A76-67A8-34F1-0242F9BF44F5}"/>
              </a:ext>
            </a:extLst>
          </p:cNvPr>
          <p:cNvGrpSpPr/>
          <p:nvPr/>
        </p:nvGrpSpPr>
        <p:grpSpPr>
          <a:xfrm>
            <a:off x="6061075" y="4440238"/>
            <a:ext cx="2265363" cy="1473200"/>
            <a:chOff x="2877689" y="3691399"/>
            <a:chExt cx="2265785" cy="1473585"/>
          </a:xfrm>
        </p:grpSpPr>
        <p:sp>
          <p:nvSpPr>
            <p:cNvPr id="8" name="Google Shape;831;p33">
              <a:extLst>
                <a:ext uri="{FF2B5EF4-FFF2-40B4-BE49-F238E27FC236}">
                  <a16:creationId xmlns:a16="http://schemas.microsoft.com/office/drawing/2014/main" id="{CCF5F86B-20D2-F692-4FBE-99FFBC338D6D}"/>
                </a:ext>
              </a:extLst>
            </p:cNvPr>
            <p:cNvSpPr txBox="1"/>
            <p:nvPr/>
          </p:nvSpPr>
          <p:spPr>
            <a:xfrm>
              <a:off x="2877689" y="3691399"/>
              <a:ext cx="1874837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sr-Latn-BA" sz="1400" b="1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Banja Luka Office</a:t>
              </a:r>
            </a:p>
          </p:txBody>
        </p:sp>
        <p:sp>
          <p:nvSpPr>
            <p:cNvPr id="9" name="Google Shape;832;p33">
              <a:extLst>
                <a:ext uri="{FF2B5EF4-FFF2-40B4-BE49-F238E27FC236}">
                  <a16:creationId xmlns:a16="http://schemas.microsoft.com/office/drawing/2014/main" id="{B77F6A2E-4F8E-1AFE-855B-32D15525770C}"/>
                </a:ext>
              </a:extLst>
            </p:cNvPr>
            <p:cNvSpPr/>
            <p:nvPr/>
          </p:nvSpPr>
          <p:spPr>
            <a:xfrm>
              <a:off x="2908274" y="3946061"/>
              <a:ext cx="2235200" cy="1218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Patre</a:t>
              </a: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5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78000 Banja Luka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Republika Srpska, BiH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</a:t>
              </a: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: +387 (0)66 808 554</a:t>
              </a: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             +387 (0)66 808 555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3EBEC1-F711-CB0F-219E-F008AD7DEF21}"/>
              </a:ext>
            </a:extLst>
          </p:cNvPr>
          <p:cNvGrpSpPr/>
          <p:nvPr/>
        </p:nvGrpSpPr>
        <p:grpSpPr>
          <a:xfrm>
            <a:off x="8699917" y="4424363"/>
            <a:ext cx="2235200" cy="1505397"/>
            <a:chOff x="8699917" y="4424363"/>
            <a:chExt cx="2235200" cy="1505397"/>
          </a:xfrm>
        </p:grpSpPr>
        <p:sp>
          <p:nvSpPr>
            <p:cNvPr id="10" name="Google Shape;833;p33">
              <a:extLst>
                <a:ext uri="{FF2B5EF4-FFF2-40B4-BE49-F238E27FC236}">
                  <a16:creationId xmlns:a16="http://schemas.microsoft.com/office/drawing/2014/main" id="{39BF28F5-EDB2-C020-95CF-AFCB3D0BFA2A}"/>
                </a:ext>
              </a:extLst>
            </p:cNvPr>
            <p:cNvSpPr txBox="1"/>
            <p:nvPr/>
          </p:nvSpPr>
          <p:spPr>
            <a:xfrm>
              <a:off x="8704263" y="4424363"/>
              <a:ext cx="1874837" cy="308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sr-Latn-BA" sz="1400" b="1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Osijek Office</a:t>
              </a:r>
            </a:p>
          </p:txBody>
        </p:sp>
        <p:sp>
          <p:nvSpPr>
            <p:cNvPr id="11" name="Google Shape;834;p33">
              <a:extLst>
                <a:ext uri="{FF2B5EF4-FFF2-40B4-BE49-F238E27FC236}">
                  <a16:creationId xmlns:a16="http://schemas.microsoft.com/office/drawing/2014/main" id="{4BD3AE44-40FA-2B4E-3EC8-C006D58F2844}"/>
                </a:ext>
              </a:extLst>
            </p:cNvPr>
            <p:cNvSpPr/>
            <p:nvPr/>
          </p:nvSpPr>
          <p:spPr>
            <a:xfrm>
              <a:off x="8699917" y="4710453"/>
              <a:ext cx="2235200" cy="12193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Cara Hadrijana 10b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31000 Osijek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Hrvatska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</a:t>
              </a: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: +385 (0)95 563 63 58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             +385 (0)31 627 754</a:t>
              </a:r>
            </a:p>
          </p:txBody>
        </p:sp>
      </p:grpSp>
      <p:grpSp>
        <p:nvGrpSpPr>
          <p:cNvPr id="12" name="Google Shape;835;p33">
            <a:extLst>
              <a:ext uri="{FF2B5EF4-FFF2-40B4-BE49-F238E27FC236}">
                <a16:creationId xmlns:a16="http://schemas.microsoft.com/office/drawing/2014/main" id="{9612FD46-1376-591B-28C4-8233440E5EB7}"/>
              </a:ext>
            </a:extLst>
          </p:cNvPr>
          <p:cNvGrpSpPr/>
          <p:nvPr/>
        </p:nvGrpSpPr>
        <p:grpSpPr>
          <a:xfrm>
            <a:off x="844550" y="4424363"/>
            <a:ext cx="2235200" cy="1735137"/>
            <a:chOff x="914400" y="1907910"/>
            <a:chExt cx="2235200" cy="1735986"/>
          </a:xfrm>
        </p:grpSpPr>
        <p:sp>
          <p:nvSpPr>
            <p:cNvPr id="13" name="Google Shape;836;p33">
              <a:extLst>
                <a:ext uri="{FF2B5EF4-FFF2-40B4-BE49-F238E27FC236}">
                  <a16:creationId xmlns:a16="http://schemas.microsoft.com/office/drawing/2014/main" id="{E5183E1B-0AE8-FD08-9C8E-95555377D21F}"/>
                </a:ext>
              </a:extLst>
            </p:cNvPr>
            <p:cNvSpPr txBox="1"/>
            <p:nvPr/>
          </p:nvSpPr>
          <p:spPr>
            <a:xfrm>
              <a:off x="1196668" y="1923694"/>
              <a:ext cx="1874837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None/>
              </a:pPr>
              <a:r>
                <a:rPr lang="sr-Latn-BA" sz="1400" b="1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Headquarter</a:t>
              </a:r>
              <a:endParaRPr lang="sr-Latn-BA" sz="1400" b="1" noProof="0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4" name="Google Shape;837;p33">
              <a:extLst>
                <a:ext uri="{FF2B5EF4-FFF2-40B4-BE49-F238E27FC236}">
                  <a16:creationId xmlns:a16="http://schemas.microsoft.com/office/drawing/2014/main" id="{41A8DC2B-80E1-E29B-60B8-78E5E6D5F468}"/>
                </a:ext>
              </a:extLst>
            </p:cNvPr>
            <p:cNvSpPr/>
            <p:nvPr/>
          </p:nvSpPr>
          <p:spPr>
            <a:xfrm>
              <a:off x="914400" y="2194140"/>
              <a:ext cx="2235200" cy="1449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Narodnog fronta 23a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21000 Novi Sad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Serbia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Phone</a:t>
              </a: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: +381 (0)21 4801 100</a:t>
              </a:r>
              <a:endParaRPr lang="sr-Latn-BA" noProof="0" dirty="0"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000"/>
                <a:buFont typeface="Arial"/>
                <a:buNone/>
              </a:pPr>
              <a:r>
                <a:rPr lang="sr-Latn-BA" sz="1000" noProof="0" dirty="0" err="1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Fax</a:t>
              </a:r>
              <a:r>
                <a:rPr lang="sr-Latn-BA" sz="1000" noProof="0" dirty="0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: +381 (0)21 4801 116</a:t>
              </a: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endParaRPr lang="sr-Latn-BA" sz="1000" noProof="0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5" name="Google Shape;838;p33">
              <a:extLst>
                <a:ext uri="{FF2B5EF4-FFF2-40B4-BE49-F238E27FC236}">
                  <a16:creationId xmlns:a16="http://schemas.microsoft.com/office/drawing/2014/main" id="{822DBCAA-6970-457F-6BCA-F6437C4449A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04888" y="1907910"/>
              <a:ext cx="239712" cy="2382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Google Shape;839;p33">
            <a:extLst>
              <a:ext uri="{FF2B5EF4-FFF2-40B4-BE49-F238E27FC236}">
                <a16:creationId xmlns:a16="http://schemas.microsoft.com/office/drawing/2014/main" id="{0741B22B-3ABF-1CF4-A05F-6D049601DB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6825" y="630238"/>
            <a:ext cx="2892425" cy="224313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825;p33">
            <a:extLst>
              <a:ext uri="{FF2B5EF4-FFF2-40B4-BE49-F238E27FC236}">
                <a16:creationId xmlns:a16="http://schemas.microsoft.com/office/drawing/2014/main" id="{1D7D7A2C-28D6-A7AC-2218-2037C037CE76}"/>
              </a:ext>
            </a:extLst>
          </p:cNvPr>
          <p:cNvSpPr/>
          <p:nvPr/>
        </p:nvSpPr>
        <p:spPr>
          <a:xfrm>
            <a:off x="0" y="3128963"/>
            <a:ext cx="76200" cy="539750"/>
          </a:xfrm>
          <a:prstGeom prst="rect">
            <a:avLst/>
          </a:prstGeom>
          <a:solidFill>
            <a:srgbClr val="7B6C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r-Latn-BA" sz="1800" noProof="0" dirty="0">
              <a:solidFill>
                <a:srgbClr val="FA4C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26;p33">
            <a:extLst>
              <a:ext uri="{FF2B5EF4-FFF2-40B4-BE49-F238E27FC236}">
                <a16:creationId xmlns:a16="http://schemas.microsoft.com/office/drawing/2014/main" id="{5C67C7C7-4E6F-C4B5-38A4-F2DCA1A4DB97}"/>
              </a:ext>
            </a:extLst>
          </p:cNvPr>
          <p:cNvSpPr txBox="1"/>
          <p:nvPr/>
        </p:nvSpPr>
        <p:spPr>
          <a:xfrm>
            <a:off x="560388" y="3178663"/>
            <a:ext cx="66103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sr-Latn-BA" sz="2800" noProof="0" dirty="0" err="1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Company</a:t>
            </a:r>
            <a:r>
              <a:rPr lang="sr-Latn-BA" sz="2800" noProof="0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sr-Latn-BA" sz="2800" noProof="0" dirty="0" err="1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Contact</a:t>
            </a:r>
            <a:endParaRPr lang="sr-Latn-BA" noProof="0" dirty="0"/>
          </a:p>
        </p:txBody>
      </p:sp>
    </p:spTree>
    <p:extLst>
      <p:ext uri="{BB962C8B-B14F-4D97-AF65-F5344CB8AC3E}">
        <p14:creationId xmlns:p14="http://schemas.microsoft.com/office/powerpoint/2010/main" val="3242455987"/>
      </p:ext>
    </p:extLst>
  </p:cSld>
  <p:clrMapOvr>
    <a:masterClrMapping/>
  </p:clrMapOvr>
</p:sld>
</file>

<file path=ppt/theme/theme1.xml><?xml version="1.0" encoding="utf-8"?>
<a:theme xmlns:a="http://schemas.openxmlformats.org/drawingml/2006/main" name="index">
  <a:themeElements>
    <a:clrScheme name="RT-R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46E96"/>
      </a:accent1>
      <a:accent2>
        <a:srgbClr val="F9BD00"/>
      </a:accent2>
      <a:accent3>
        <a:srgbClr val="878787"/>
      </a:accent3>
      <a:accent4>
        <a:srgbClr val="292139"/>
      </a:accent4>
      <a:accent5>
        <a:srgbClr val="A697B3"/>
      </a:accent5>
      <a:accent6>
        <a:srgbClr val="CBC3D3"/>
      </a:accent6>
      <a:hlink>
        <a:srgbClr val="846E96"/>
      </a:hlink>
      <a:folHlink>
        <a:srgbClr val="846E96"/>
      </a:folHlink>
    </a:clrScheme>
    <a:fontScheme name="Benutzerdefiniert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8499</TotalTime>
  <Words>2107</Words>
  <Application>Microsoft Office PowerPoint</Application>
  <PresentationFormat>Widescreen</PresentationFormat>
  <Paragraphs>292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Catamaran Light</vt:lpstr>
      <vt:lpstr>Montserrat</vt:lpstr>
      <vt:lpstr>Montserrat </vt:lpstr>
      <vt:lpstr>Montserrat Medium</vt:lpstr>
      <vt:lpstr>Wingdings</vt:lpstr>
      <vt:lpstr>index</vt:lpstr>
      <vt:lpstr>Ljetna škola</vt:lpstr>
      <vt:lpstr>Uvod</vt:lpstr>
      <vt:lpstr>Uvod</vt:lpstr>
      <vt:lpstr>Uvod</vt:lpstr>
      <vt:lpstr>Osnovi C jezika</vt:lpstr>
      <vt:lpstr>Osnovi C jezika</vt:lpstr>
      <vt:lpstr>Osnovi C jezika</vt:lpstr>
      <vt:lpstr>Osnovi C jezika</vt:lpstr>
      <vt:lpstr>Osnovi C jezika</vt:lpstr>
      <vt:lpstr>Osnovi C jezika</vt:lpstr>
      <vt:lpstr>Osnovi C jezika</vt:lpstr>
      <vt:lpstr>Osnovi C jezika</vt:lpstr>
      <vt:lpstr>Osnovi C jezika</vt:lpstr>
      <vt:lpstr>Osnovi C jezika</vt:lpstr>
      <vt:lpstr>Osnovi C jezika</vt:lpstr>
      <vt:lpstr>Osnovi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Napredni koncepti C jezika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Przemek</dc:creator>
  <cp:lastModifiedBy>Aleksandar Beslic</cp:lastModifiedBy>
  <cp:revision>140</cp:revision>
  <dcterms:created xsi:type="dcterms:W3CDTF">2023-02-25T07:54:26Z</dcterms:created>
  <dcterms:modified xsi:type="dcterms:W3CDTF">2025-07-08T20:07:27Z</dcterms:modified>
</cp:coreProperties>
</file>